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1A2E"/>
          </a:solidFill>
          <a:ln/>
        </p:spPr>
      </p:sp>
      <p:sp>
        <p:nvSpPr>
          <p:cNvPr id="3" name="Shape 1"/>
          <p:cNvSpPr/>
          <p:nvPr/>
        </p:nvSpPr>
        <p:spPr>
          <a:xfrm>
            <a:off x="0" y="2926080"/>
            <a:ext cx="12192000" cy="54864"/>
          </a:xfrm>
          <a:prstGeom prst="rect">
            <a:avLst/>
          </a:prstGeom>
          <a:solidFill>
            <a:srgbClr val="E94560"/>
          </a:solidFill>
          <a:ln/>
        </p:spPr>
      </p:sp>
      <p:sp>
        <p:nvSpPr>
          <p:cNvPr id="4" name="Text 2"/>
          <p:cNvSpPr/>
          <p:nvPr/>
        </p:nvSpPr>
        <p:spPr>
          <a:xfrm>
            <a:off x="731520" y="914400"/>
            <a:ext cx="10058400" cy="109728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SEO Audit &amp; Growth Strategy</a:t>
            </a:r>
            <a:endParaRPr lang="en-US" sz="4000" dirty="0"/>
          </a:p>
        </p:txBody>
      </p:sp>
      <p:sp>
        <p:nvSpPr>
          <p:cNvPr id="5" name="Text 3"/>
          <p:cNvSpPr/>
          <p:nvPr/>
        </p:nvSpPr>
        <p:spPr>
          <a:xfrm>
            <a:off x="731520" y="1920240"/>
            <a:ext cx="10058400" cy="640080"/>
          </a:xfrm>
          <a:prstGeom prst="rect">
            <a:avLst/>
          </a:prstGeom>
          <a:noFill/>
          <a:ln/>
        </p:spPr>
        <p:txBody>
          <a:bodyPr wrap="square" rtlCol="0" anchor="ctr"/>
          <a:lstStyle/>
          <a:p>
            <a:pPr indent="0" marL="0">
              <a:buNone/>
            </a:pPr>
            <a:r>
              <a:rPr lang="en-US" sz="2800" dirty="0">
                <a:solidFill>
                  <a:srgbClr val="E94560"/>
                </a:solidFill>
                <a:latin typeface="Arial" pitchFamily="34" charset="0"/>
                <a:ea typeface="Arial" pitchFamily="34" charset="-122"/>
                <a:cs typeface="Arial" pitchFamily="34" charset="-120"/>
              </a:rPr>
              <a:t>mammothlakesproperties.com</a:t>
            </a:r>
            <a:endParaRPr lang="en-US" sz="2800" dirty="0"/>
          </a:p>
        </p:txBody>
      </p:sp>
      <p:sp>
        <p:nvSpPr>
          <p:cNvPr id="6" name="Text 4"/>
          <p:cNvSpPr/>
          <p:nvPr/>
        </p:nvSpPr>
        <p:spPr>
          <a:xfrm>
            <a:off x="731520" y="3474720"/>
            <a:ext cx="10058400" cy="457200"/>
          </a:xfrm>
          <a:prstGeom prst="rect">
            <a:avLst/>
          </a:prstGeom>
          <a:noFill/>
          <a:ln/>
        </p:spPr>
        <p:txBody>
          <a:bodyPr wrap="square" rtlCol="0" anchor="ctr"/>
          <a:lstStyle/>
          <a:p>
            <a:pPr indent="0" marL="0">
              <a:buNone/>
            </a:pPr>
            <a:r>
              <a:rPr lang="en-US" sz="1600" dirty="0">
                <a:solidFill>
                  <a:srgbClr val="666666"/>
                </a:solidFill>
                <a:latin typeface="Arial" pitchFamily="34" charset="0"/>
                <a:ea typeface="Arial" pitchFamily="34" charset="-122"/>
                <a:cs typeface="Arial" pitchFamily="34" charset="-120"/>
              </a:rPr>
              <a:t>Prepared for: </a:t>
            </a:r>
            <a:pPr indent="0" marL="0">
              <a:buNone/>
            </a:pPr>
            <a:r>
              <a:rPr lang="en-US" sz="1600" b="1" dirty="0">
                <a:solidFill>
                  <a:srgbClr val="FFFFFF"/>
                </a:solidFill>
                <a:latin typeface="Arial" pitchFamily="34" charset="0"/>
                <a:ea typeface="Arial" pitchFamily="34" charset="-122"/>
                <a:cs typeface="Arial" pitchFamily="34" charset="-120"/>
              </a:rPr>
              <a:t>Jamie Kelly</a:t>
            </a:r>
            <a:endParaRPr lang="en-US" sz="1600" dirty="0"/>
          </a:p>
        </p:txBody>
      </p:sp>
      <p:sp>
        <p:nvSpPr>
          <p:cNvPr id="7" name="Text 5"/>
          <p:cNvSpPr/>
          <p:nvPr/>
        </p:nvSpPr>
        <p:spPr>
          <a:xfrm>
            <a:off x="731520" y="3931920"/>
            <a:ext cx="100584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Mammoth Lakes Properties</a:t>
            </a:r>
            <a:endParaRPr lang="en-US" sz="1400" dirty="0"/>
          </a:p>
        </p:txBody>
      </p:sp>
      <p:sp>
        <p:nvSpPr>
          <p:cNvPr id="8" name="Text 6"/>
          <p:cNvSpPr/>
          <p:nvPr/>
        </p:nvSpPr>
        <p:spPr>
          <a:xfrm>
            <a:off x="731520" y="4480560"/>
            <a:ext cx="10058400" cy="36576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March 19,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Where We Are Today</a:t>
            </a:r>
            <a:endParaRPr lang="en-US" sz="2800" dirty="0"/>
          </a:p>
        </p:txBody>
      </p:sp>
      <p:sp>
        <p:nvSpPr>
          <p:cNvPr id="4" name="Shape 2"/>
          <p:cNvSpPr/>
          <p:nvPr/>
        </p:nvSpPr>
        <p:spPr>
          <a:xfrm>
            <a:off x="457200" y="1371600"/>
            <a:ext cx="2743200" cy="3200400"/>
          </a:xfrm>
          <a:prstGeom prst="rect">
            <a:avLst>
              <a:gd name="adj" fmla="val 3333"/>
            </a:avLst>
          </a:prstGeom>
          <a:solidFill>
            <a:srgbClr val="F5F5F5"/>
          </a:solidFill>
          <a:ln/>
        </p:spPr>
      </p:sp>
      <p:sp>
        <p:nvSpPr>
          <p:cNvPr id="5" name="Text 3"/>
          <p:cNvSpPr/>
          <p:nvPr/>
        </p:nvSpPr>
        <p:spPr>
          <a:xfrm>
            <a:off x="457200" y="1463040"/>
            <a:ext cx="2743200" cy="457200"/>
          </a:xfrm>
          <a:prstGeom prst="rect">
            <a:avLst/>
          </a:prstGeom>
          <a:noFill/>
          <a:ln/>
        </p:spPr>
        <p:txBody>
          <a:bodyPr wrap="square" rtlCol="0" anchor="ctr"/>
          <a:lstStyle/>
          <a:p>
            <a:pPr algn="ctr" indent="0" marL="0">
              <a:buNone/>
            </a:pPr>
            <a:r>
              <a:rPr lang="en-US" sz="1400" b="1" dirty="0">
                <a:solidFill>
                  <a:srgbClr val="666666"/>
                </a:solidFill>
                <a:latin typeface="Arial" pitchFamily="34" charset="0"/>
                <a:ea typeface="Arial" pitchFamily="34" charset="-122"/>
                <a:cs typeface="Arial" pitchFamily="34" charset="-120"/>
              </a:rPr>
              <a:t>OVERALL GRADE</a:t>
            </a:r>
            <a:endParaRPr lang="en-US" sz="1400" dirty="0"/>
          </a:p>
        </p:txBody>
      </p:sp>
      <p:sp>
        <p:nvSpPr>
          <p:cNvPr id="6" name="Text 4"/>
          <p:cNvSpPr/>
          <p:nvPr/>
        </p:nvSpPr>
        <p:spPr>
          <a:xfrm>
            <a:off x="457200" y="2011680"/>
            <a:ext cx="2743200" cy="1828800"/>
          </a:xfrm>
          <a:prstGeom prst="rect">
            <a:avLst/>
          </a:prstGeom>
          <a:noFill/>
          <a:ln/>
        </p:spPr>
        <p:txBody>
          <a:bodyPr wrap="square" rtlCol="0" anchor="ctr"/>
          <a:lstStyle/>
          <a:p>
            <a:pPr algn="ctr" indent="0" marL="0">
              <a:buNone/>
            </a:pPr>
            <a:r>
              <a:rPr lang="en-US" sz="9600" b="1" dirty="0">
                <a:solidFill>
                  <a:srgbClr val="E74C3C"/>
                </a:solidFill>
                <a:latin typeface="Arial" pitchFamily="34" charset="0"/>
                <a:ea typeface="Arial" pitchFamily="34" charset="-122"/>
                <a:cs typeface="Arial" pitchFamily="34" charset="-120"/>
              </a:rPr>
              <a:t>D+</a:t>
            </a:r>
            <a:endParaRPr lang="en-US" sz="9600" dirty="0"/>
          </a:p>
        </p:txBody>
      </p:sp>
      <p:sp>
        <p:nvSpPr>
          <p:cNvPr id="7" name="Text 5"/>
          <p:cNvSpPr/>
          <p:nvPr/>
        </p:nvSpPr>
        <p:spPr>
          <a:xfrm>
            <a:off x="457200" y="3931920"/>
            <a:ext cx="2743200" cy="640080"/>
          </a:xfrm>
          <a:prstGeom prst="rect">
            <a:avLst/>
          </a:prstGeom>
          <a:noFill/>
          <a:ln/>
        </p:spPr>
        <p:txBody>
          <a:bodyPr wrap="square" rtlCol="0" anchor="ctr"/>
          <a:lstStyle/>
          <a:p>
            <a:pPr algn="ctr" indent="0" marL="0">
              <a:buNone/>
            </a:pPr>
            <a:r>
              <a:rPr lang="en-US" sz="1000" dirty="0">
                <a:solidFill>
                  <a:srgbClr val="666666"/>
                </a:solidFill>
                <a:latin typeface="Arial" pitchFamily="34" charset="0"/>
                <a:ea typeface="Arial" pitchFamily="34" charset="-122"/>
                <a:cs typeface="Arial" pitchFamily="34" charset="-120"/>
              </a:rPr>
              <a:t>The site has a branded keyword #1 ranking and decent direct traffic (11,620 sessions), but catastrophic mobile performance (PageSpeed 30/100, LCP 15.8s, CLS 0.80), a massively bloated sitemap (2,984 URLs of mostly thin IDX filter pages), broken schema markup, and near-zero organic visibility for high-value non-branded keywords. Only 1 of 10 tracked keywords ranks in the top 10. Competitors RE/MAX Mammoth and Resort Realty significantly outperform in both technical SEO and SERP visibility.</a:t>
            </a:r>
            <a:endParaRPr lang="en-US" sz="1000" dirty="0"/>
          </a:p>
        </p:txBody>
      </p:sp>
      <p:sp>
        <p:nvSpPr>
          <p:cNvPr id="8" name="Text 6"/>
          <p:cNvSpPr/>
          <p:nvPr/>
        </p:nvSpPr>
        <p:spPr>
          <a:xfrm>
            <a:off x="3840480" y="13716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5 / 10</a:t>
            </a:r>
            <a:endParaRPr lang="en-US" sz="2200" dirty="0"/>
          </a:p>
        </p:txBody>
      </p:sp>
      <p:sp>
        <p:nvSpPr>
          <p:cNvPr id="9" name="Text 7"/>
          <p:cNvSpPr/>
          <p:nvPr/>
        </p:nvSpPr>
        <p:spPr>
          <a:xfrm>
            <a:off x="6583680" y="14173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tracked keywords ranking (only 1 in top 10)</a:t>
            </a:r>
            <a:endParaRPr lang="en-US" sz="1400" dirty="0"/>
          </a:p>
        </p:txBody>
      </p:sp>
      <p:sp>
        <p:nvSpPr>
          <p:cNvPr id="10" name="Text 8"/>
          <p:cNvSpPr/>
          <p:nvPr/>
        </p:nvSpPr>
        <p:spPr>
          <a:xfrm>
            <a:off x="3840480" y="20574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30 / 100</a:t>
            </a:r>
            <a:endParaRPr lang="en-US" sz="2200" dirty="0"/>
          </a:p>
        </p:txBody>
      </p:sp>
      <p:sp>
        <p:nvSpPr>
          <p:cNvPr id="11" name="Text 9"/>
          <p:cNvSpPr/>
          <p:nvPr/>
        </p:nvSpPr>
        <p:spPr>
          <a:xfrm>
            <a:off x="6583680" y="21031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mobile PageSpeed score (RE/MAX: 79)</a:t>
            </a:r>
            <a:endParaRPr lang="en-US" sz="1400" dirty="0"/>
          </a:p>
        </p:txBody>
      </p:sp>
      <p:sp>
        <p:nvSpPr>
          <p:cNvPr id="12" name="Text 10"/>
          <p:cNvSpPr/>
          <p:nvPr/>
        </p:nvSpPr>
        <p:spPr>
          <a:xfrm>
            <a:off x="3840480" y="27432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15.8s</a:t>
            </a:r>
            <a:endParaRPr lang="en-US" sz="2200" dirty="0"/>
          </a:p>
        </p:txBody>
      </p:sp>
      <p:sp>
        <p:nvSpPr>
          <p:cNvPr id="13" name="Text 11"/>
          <p:cNvSpPr/>
          <p:nvPr/>
        </p:nvSpPr>
        <p:spPr>
          <a:xfrm>
            <a:off x="6583680" y="27889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mobile LCP (should be under 2.5s)</a:t>
            </a:r>
            <a:endParaRPr lang="en-US" sz="1400" dirty="0"/>
          </a:p>
        </p:txBody>
      </p:sp>
      <p:sp>
        <p:nvSpPr>
          <p:cNvPr id="14" name="Text 12"/>
          <p:cNvSpPr/>
          <p:nvPr/>
        </p:nvSpPr>
        <p:spPr>
          <a:xfrm>
            <a:off x="3840480" y="34290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0.80</a:t>
            </a:r>
            <a:endParaRPr lang="en-US" sz="2200" dirty="0"/>
          </a:p>
        </p:txBody>
      </p:sp>
      <p:sp>
        <p:nvSpPr>
          <p:cNvPr id="15" name="Text 13"/>
          <p:cNvSpPr/>
          <p:nvPr/>
        </p:nvSpPr>
        <p:spPr>
          <a:xfrm>
            <a:off x="6583680" y="34747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CLS score (should be under 0.1)</a:t>
            </a:r>
            <a:endParaRPr lang="en-US" sz="1400" dirty="0"/>
          </a:p>
        </p:txBody>
      </p:sp>
      <p:sp>
        <p:nvSpPr>
          <p:cNvPr id="16" name="Text 14"/>
          <p:cNvSpPr/>
          <p:nvPr/>
        </p:nvSpPr>
        <p:spPr>
          <a:xfrm>
            <a:off x="3840480" y="4114800"/>
            <a:ext cx="2743200" cy="320040"/>
          </a:xfrm>
          <a:prstGeom prst="rect">
            <a:avLst/>
          </a:prstGeom>
          <a:noFill/>
          <a:ln/>
        </p:spPr>
        <p:txBody>
          <a:bodyPr wrap="square" rtlCol="0" anchor="ctr"/>
          <a:lstStyle/>
          <a:p>
            <a:pPr indent="0" marL="0">
              <a:buNone/>
            </a:pPr>
            <a:r>
              <a:rPr lang="en-US" sz="2200" b="1" dirty="0">
                <a:solidFill>
                  <a:srgbClr val="F39C12"/>
                </a:solidFill>
                <a:latin typeface="Arial" pitchFamily="34" charset="0"/>
                <a:ea typeface="Arial" pitchFamily="34" charset="-122"/>
                <a:cs typeface="Arial" pitchFamily="34" charset="-120"/>
              </a:rPr>
              <a:t>2,984</a:t>
            </a:r>
            <a:endParaRPr lang="en-US" sz="2200" dirty="0"/>
          </a:p>
        </p:txBody>
      </p:sp>
      <p:sp>
        <p:nvSpPr>
          <p:cNvPr id="17" name="Text 15"/>
          <p:cNvSpPr/>
          <p:nvPr/>
        </p:nvSpPr>
        <p:spPr>
          <a:xfrm>
            <a:off x="6583680" y="41605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sitemap URLs (only ~70 unique content pages)</a:t>
            </a:r>
            <a:endParaRPr lang="en-US" sz="1400" dirty="0"/>
          </a:p>
        </p:txBody>
      </p:sp>
      <p:sp>
        <p:nvSpPr>
          <p:cNvPr id="18" name="Text 16"/>
          <p:cNvSpPr/>
          <p:nvPr/>
        </p:nvSpPr>
        <p:spPr>
          <a:xfrm>
            <a:off x="3840480" y="48006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94%</a:t>
            </a:r>
            <a:endParaRPr lang="en-US" sz="2200" dirty="0"/>
          </a:p>
        </p:txBody>
      </p:sp>
      <p:sp>
        <p:nvSpPr>
          <p:cNvPr id="19" name="Text 17"/>
          <p:cNvSpPr/>
          <p:nvPr/>
        </p:nvSpPr>
        <p:spPr>
          <a:xfrm>
            <a:off x="6583680" y="48463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of listing images missing alt text</a:t>
            </a:r>
            <a:endParaRPr lang="en-US" sz="1400" dirty="0"/>
          </a:p>
        </p:txBody>
      </p:sp>
      <p:sp>
        <p:nvSpPr>
          <p:cNvPr id="20" name="Text 18"/>
          <p:cNvSpPr/>
          <p:nvPr/>
        </p:nvSpPr>
        <p:spPr>
          <a:xfrm>
            <a:off x="3840480" y="5486400"/>
            <a:ext cx="2743200" cy="320040"/>
          </a:xfrm>
          <a:prstGeom prst="rect">
            <a:avLst/>
          </a:prstGeom>
          <a:noFill/>
          <a:ln/>
        </p:spPr>
        <p:txBody>
          <a:bodyPr wrap="square" rtlCol="0" anchor="ctr"/>
          <a:lstStyle/>
          <a:p>
            <a:pPr indent="0" marL="0">
              <a:buNone/>
            </a:pPr>
            <a:r>
              <a:rPr lang="en-US" sz="2200" b="1" dirty="0">
                <a:solidFill>
                  <a:srgbClr val="F39C12"/>
                </a:solidFill>
                <a:latin typeface="Arial" pitchFamily="34" charset="0"/>
                <a:ea typeface="Arial" pitchFamily="34" charset="-122"/>
                <a:cs typeface="Arial" pitchFamily="34" charset="-120"/>
              </a:rPr>
              <a:t>4 H1s</a:t>
            </a:r>
            <a:endParaRPr lang="en-US" sz="2200" dirty="0"/>
          </a:p>
        </p:txBody>
      </p:sp>
      <p:sp>
        <p:nvSpPr>
          <p:cNvPr id="21" name="Text 19"/>
          <p:cNvSpPr/>
          <p:nvPr/>
        </p:nvSpPr>
        <p:spPr>
          <a:xfrm>
            <a:off x="6583680" y="55321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on homepage (should be exactly 1)</a:t>
            </a:r>
            <a:endParaRPr lang="en-US" sz="1400" dirty="0"/>
          </a:p>
        </p:txBody>
      </p:sp>
      <p:sp>
        <p:nvSpPr>
          <p:cNvPr id="22" name="Text 20"/>
          <p:cNvSpPr/>
          <p:nvPr/>
        </p:nvSpPr>
        <p:spPr>
          <a:xfrm>
            <a:off x="3840480" y="6172200"/>
            <a:ext cx="2743200" cy="320040"/>
          </a:xfrm>
          <a:prstGeom prst="rect">
            <a:avLst/>
          </a:prstGeom>
          <a:noFill/>
          <a:ln/>
        </p:spPr>
        <p:txBody>
          <a:bodyPr wrap="square" rtlCol="0" anchor="ctr"/>
          <a:lstStyle/>
          <a:p>
            <a:pPr indent="0" marL="0">
              <a:buNone/>
            </a:pPr>
            <a:r>
              <a:rPr lang="en-US" sz="2200" b="1" dirty="0">
                <a:solidFill>
                  <a:srgbClr val="F39C12"/>
                </a:solidFill>
                <a:latin typeface="Arial" pitchFamily="34" charset="0"/>
                <a:ea typeface="Arial" pitchFamily="34" charset="-122"/>
                <a:cs typeface="Arial" pitchFamily="34" charset="-120"/>
              </a:rPr>
              <a:t>665</a:t>
            </a:r>
            <a:endParaRPr lang="en-US" sz="2200" dirty="0"/>
          </a:p>
        </p:txBody>
      </p:sp>
      <p:sp>
        <p:nvSpPr>
          <p:cNvPr id="23" name="Text 21"/>
          <p:cNvSpPr/>
          <p:nvPr/>
        </p:nvSpPr>
        <p:spPr>
          <a:xfrm>
            <a:off x="6583680" y="62179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organic Google sessions (vs. 11,620 direct)</a:t>
            </a:r>
            <a:endParaRPr lang="en-US" sz="1400" dirty="0"/>
          </a:p>
        </p:txBody>
      </p:sp>
      <p:sp>
        <p:nvSpPr>
          <p:cNvPr id="24" name="Text 22"/>
          <p:cNvSpPr/>
          <p:nvPr/>
        </p:nvSpPr>
        <p:spPr>
          <a:xfrm>
            <a:off x="3840480" y="68580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1 click</a:t>
            </a:r>
            <a:endParaRPr lang="en-US" sz="2200" dirty="0"/>
          </a:p>
        </p:txBody>
      </p:sp>
      <p:sp>
        <p:nvSpPr>
          <p:cNvPr id="25" name="Text 23"/>
          <p:cNvSpPr/>
          <p:nvPr/>
        </p:nvSpPr>
        <p:spPr>
          <a:xfrm>
            <a:off x="6583680" y="69037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total from Google Search Console in tracking period</a:t>
            </a:r>
            <a:endParaRPr lang="en-US" sz="1400" dirty="0"/>
          </a:p>
        </p:txBody>
      </p:sp>
      <p:sp>
        <p:nvSpPr>
          <p:cNvPr id="26" name="Text 24"/>
          <p:cNvSpPr/>
          <p:nvPr/>
        </p:nvSpPr>
        <p:spPr>
          <a:xfrm>
            <a:off x="3840480" y="7543800"/>
            <a:ext cx="2743200" cy="320040"/>
          </a:xfrm>
          <a:prstGeom prst="rect">
            <a:avLst/>
          </a:prstGeom>
          <a:noFill/>
          <a:ln/>
        </p:spPr>
        <p:txBody>
          <a:bodyPr wrap="square" rtlCol="0" anchor="ctr"/>
          <a:lstStyle/>
          <a:p>
            <a:pPr indent="0" marL="0">
              <a:buNone/>
            </a:pPr>
            <a:r>
              <a:rPr lang="en-US" sz="2200" b="1" dirty="0">
                <a:solidFill>
                  <a:srgbClr val="E74C3C"/>
                </a:solidFill>
                <a:latin typeface="Arial" pitchFamily="34" charset="0"/>
                <a:ea typeface="Arial" pitchFamily="34" charset="-122"/>
                <a:cs typeface="Arial" pitchFamily="34" charset="-120"/>
              </a:rPr>
              <a:t>$0.00</a:t>
            </a:r>
            <a:endParaRPr lang="en-US" sz="2200" dirty="0"/>
          </a:p>
        </p:txBody>
      </p:sp>
      <p:sp>
        <p:nvSpPr>
          <p:cNvPr id="27" name="Text 25"/>
          <p:cNvSpPr/>
          <p:nvPr/>
        </p:nvSpPr>
        <p:spPr>
          <a:xfrm>
            <a:off x="6583680" y="7589520"/>
            <a:ext cx="5029200" cy="32004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organic revenue from search (all conversions from paid/direct)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Top 5 Critical Issues</a:t>
            </a:r>
            <a:endParaRPr lang="en-US" sz="2800" dirty="0"/>
          </a:p>
        </p:txBody>
      </p:sp>
      <p:sp>
        <p:nvSpPr>
          <p:cNvPr id="4" name="Shape 2"/>
          <p:cNvSpPr/>
          <p:nvPr/>
        </p:nvSpPr>
        <p:spPr>
          <a:xfrm>
            <a:off x="457200" y="1280160"/>
            <a:ext cx="457200" cy="457200"/>
          </a:xfrm>
          <a:prstGeom prst="rect">
            <a:avLst>
              <a:gd name="adj" fmla="val 10000"/>
            </a:avLst>
          </a:prstGeom>
          <a:solidFill>
            <a:srgbClr val="E94560"/>
          </a:solidFill>
          <a:ln/>
        </p:spPr>
      </p:sp>
      <p:sp>
        <p:nvSpPr>
          <p:cNvPr id="5" name="Text 3"/>
          <p:cNvSpPr/>
          <p:nvPr/>
        </p:nvSpPr>
        <p:spPr>
          <a:xfrm>
            <a:off x="457200" y="128016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6" name="Text 4"/>
          <p:cNvSpPr/>
          <p:nvPr/>
        </p:nvSpPr>
        <p:spPr>
          <a:xfrm>
            <a:off x="1097280" y="128016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Catastrophic mobile performance</a:t>
            </a:r>
            <a:endParaRPr lang="en-US" sz="1600" dirty="0"/>
          </a:p>
        </p:txBody>
      </p:sp>
      <p:sp>
        <p:nvSpPr>
          <p:cNvPr id="7" name="Text 5"/>
          <p:cNvSpPr/>
          <p:nvPr/>
        </p:nvSpPr>
        <p:spPr>
          <a:xfrm>
            <a:off x="1097280" y="164592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PageSpeed mobile score of 30/100 with 15.8s LCP, 0.80 CLS, and 16.2s Time to Interactive. 1,027 KiB of unused JavaScript. RE/MAX scores 79/100 on mobile.</a:t>
            </a:r>
            <a:endParaRPr lang="en-US" sz="1200" dirty="0"/>
          </a:p>
        </p:txBody>
      </p:sp>
      <p:sp>
        <p:nvSpPr>
          <p:cNvPr id="8" name="Shape 6"/>
          <p:cNvSpPr/>
          <p:nvPr/>
        </p:nvSpPr>
        <p:spPr>
          <a:xfrm>
            <a:off x="457200" y="2331720"/>
            <a:ext cx="457200" cy="457200"/>
          </a:xfrm>
          <a:prstGeom prst="rect">
            <a:avLst>
              <a:gd name="adj" fmla="val 10000"/>
            </a:avLst>
          </a:prstGeom>
          <a:solidFill>
            <a:srgbClr val="E94560"/>
          </a:solidFill>
          <a:ln/>
        </p:spPr>
      </p:sp>
      <p:sp>
        <p:nvSpPr>
          <p:cNvPr id="9" name="Text 7"/>
          <p:cNvSpPr/>
          <p:nvPr/>
        </p:nvSpPr>
        <p:spPr>
          <a:xfrm>
            <a:off x="457200" y="23317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0" name="Text 8"/>
          <p:cNvSpPr/>
          <p:nvPr/>
        </p:nvSpPr>
        <p:spPr>
          <a:xfrm>
            <a:off x="1097280" y="233172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Massively bloated sitemap with thin IDX pages</a:t>
            </a:r>
            <a:endParaRPr lang="en-US" sz="1600" dirty="0"/>
          </a:p>
        </p:txBody>
      </p:sp>
      <p:sp>
        <p:nvSpPr>
          <p:cNvPr id="11" name="Text 9"/>
          <p:cNvSpPr/>
          <p:nvPr/>
        </p:nvSpPr>
        <p:spPr>
          <a:xfrm>
            <a:off x="1097280" y="269748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2,984 URLs in sitemap, but only ~70 contain unique content. The remaining ~2,900 are auto-generated IDX filter pages (e.g., /bishop-homes-for-sale/2-bedroom/) with thin, duplicative content that dilutes crawl budget.</a:t>
            </a:r>
            <a:endParaRPr lang="en-US" sz="1200" dirty="0"/>
          </a:p>
        </p:txBody>
      </p:sp>
      <p:sp>
        <p:nvSpPr>
          <p:cNvPr id="12" name="Shape 10"/>
          <p:cNvSpPr/>
          <p:nvPr/>
        </p:nvSpPr>
        <p:spPr>
          <a:xfrm>
            <a:off x="457200" y="3383280"/>
            <a:ext cx="457200" cy="457200"/>
          </a:xfrm>
          <a:prstGeom prst="rect">
            <a:avLst>
              <a:gd name="adj" fmla="val 10000"/>
            </a:avLst>
          </a:prstGeom>
          <a:solidFill>
            <a:srgbClr val="E94560"/>
          </a:solidFill>
          <a:ln/>
        </p:spPr>
      </p:sp>
      <p:sp>
        <p:nvSpPr>
          <p:cNvPr id="13" name="Text 11"/>
          <p:cNvSpPr/>
          <p:nvPr/>
        </p:nvSpPr>
        <p:spPr>
          <a:xfrm>
            <a:off x="457200" y="338328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4" name="Text 12"/>
          <p:cNvSpPr/>
          <p:nvPr/>
        </p:nvSpPr>
        <p:spPr>
          <a:xfrm>
            <a:off x="1097280" y="338328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Multiple H1 tags and heading hierarchy issues</a:t>
            </a:r>
            <a:endParaRPr lang="en-US" sz="1600" dirty="0"/>
          </a:p>
        </p:txBody>
      </p:sp>
      <p:sp>
        <p:nvSpPr>
          <p:cNvPr id="15" name="Text 13"/>
          <p:cNvSpPr/>
          <p:nvPr/>
        </p:nvSpPr>
        <p:spPr>
          <a:xfrm>
            <a:off x="1097280" y="374904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Homepage has 4 H1 tags ('Find Your Mammoth Lakes Home', 'IMAGINE', 'LIVING HERE', 'Welcome'). Blog page has 5 H1s. About page has 2 H1s (one empty). Property search results page has NO H1.</a:t>
            </a:r>
            <a:endParaRPr lang="en-US" sz="1200" dirty="0"/>
          </a:p>
        </p:txBody>
      </p:sp>
      <p:sp>
        <p:nvSpPr>
          <p:cNvPr id="16" name="Shape 14"/>
          <p:cNvSpPr/>
          <p:nvPr/>
        </p:nvSpPr>
        <p:spPr>
          <a:xfrm>
            <a:off x="457200" y="4434840"/>
            <a:ext cx="457200" cy="457200"/>
          </a:xfrm>
          <a:prstGeom prst="rect">
            <a:avLst>
              <a:gd name="adj" fmla="val 10000"/>
            </a:avLst>
          </a:prstGeom>
          <a:solidFill>
            <a:srgbClr val="E94560"/>
          </a:solidFill>
          <a:ln/>
        </p:spPr>
      </p:sp>
      <p:sp>
        <p:nvSpPr>
          <p:cNvPr id="17" name="Text 15"/>
          <p:cNvSpPr/>
          <p:nvPr/>
        </p:nvSpPr>
        <p:spPr>
          <a:xfrm>
            <a:off x="457200" y="443484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18" name="Text 16"/>
          <p:cNvSpPr/>
          <p:nvPr/>
        </p:nvSpPr>
        <p:spPr>
          <a:xfrm>
            <a:off x="1097280" y="443484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Broken/empty schema markup</a:t>
            </a:r>
            <a:endParaRPr lang="en-US" sz="1600" dirty="0"/>
          </a:p>
        </p:txBody>
      </p:sp>
      <p:sp>
        <p:nvSpPr>
          <p:cNvPr id="19" name="Text 17"/>
          <p:cNvSpPr/>
          <p:nvPr/>
        </p:nvSpPr>
        <p:spPr>
          <a:xfrm>
            <a:off x="1097280" y="480060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Organization schema has empty 'name' field. Article schema on blog/about has empty author, publisher.name, and contentLocation. About page uses Article type instead of AboutPage. Community and contact pages have NO schema at all.</a:t>
            </a:r>
            <a:endParaRPr lang="en-US" sz="1200" dirty="0"/>
          </a:p>
        </p:txBody>
      </p:sp>
      <p:sp>
        <p:nvSpPr>
          <p:cNvPr id="20" name="Shape 18"/>
          <p:cNvSpPr/>
          <p:nvPr/>
        </p:nvSpPr>
        <p:spPr>
          <a:xfrm>
            <a:off x="457200" y="5486400"/>
            <a:ext cx="457200" cy="457200"/>
          </a:xfrm>
          <a:prstGeom prst="rect">
            <a:avLst>
              <a:gd name="adj" fmla="val 10000"/>
            </a:avLst>
          </a:prstGeom>
          <a:solidFill>
            <a:srgbClr val="E94560"/>
          </a:solidFill>
          <a:ln/>
        </p:spPr>
      </p:sp>
      <p:sp>
        <p:nvSpPr>
          <p:cNvPr id="21" name="Text 19"/>
          <p:cNvSpPr/>
          <p:nvPr/>
        </p:nvSpPr>
        <p:spPr>
          <a:xfrm>
            <a:off x="457200" y="548640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5</a:t>
            </a:r>
            <a:endParaRPr lang="en-US" sz="2000" dirty="0"/>
          </a:p>
        </p:txBody>
      </p:sp>
      <p:sp>
        <p:nvSpPr>
          <p:cNvPr id="22" name="Text 20"/>
          <p:cNvSpPr/>
          <p:nvPr/>
        </p:nvSpPr>
        <p:spPr>
          <a:xfrm>
            <a:off x="1097280" y="548640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93-94% of listing images missing alt text</a:t>
            </a:r>
            <a:endParaRPr lang="en-US" sz="1600" dirty="0"/>
          </a:p>
        </p:txBody>
      </p:sp>
      <p:sp>
        <p:nvSpPr>
          <p:cNvPr id="23" name="Text 21"/>
          <p:cNvSpPr/>
          <p:nvPr/>
        </p:nvSpPr>
        <p:spPr>
          <a:xfrm>
            <a:off x="1097280" y="585216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Property search results page: 476 images with 447 missing alt (94%). Full listing page: 1,425 images with 1,339 missing alt (94%). This is a massive accessibility and SEO failure.</a:t>
            </a:r>
            <a:endParaRPr lang="en-US" sz="1200" dirty="0"/>
          </a:p>
        </p:txBody>
      </p:sp>
      <p:sp>
        <p:nvSpPr>
          <p:cNvPr id="24" name="Shape 22"/>
          <p:cNvSpPr/>
          <p:nvPr/>
        </p:nvSpPr>
        <p:spPr>
          <a:xfrm>
            <a:off x="457200" y="6537960"/>
            <a:ext cx="457200" cy="457200"/>
          </a:xfrm>
          <a:prstGeom prst="rect">
            <a:avLst>
              <a:gd name="adj" fmla="val 10000"/>
            </a:avLst>
          </a:prstGeom>
          <a:solidFill>
            <a:srgbClr val="E94560"/>
          </a:solidFill>
          <a:ln/>
        </p:spPr>
      </p:sp>
      <p:sp>
        <p:nvSpPr>
          <p:cNvPr id="25" name="Text 23"/>
          <p:cNvSpPr/>
          <p:nvPr/>
        </p:nvSpPr>
        <p:spPr>
          <a:xfrm>
            <a:off x="457200" y="653796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6</a:t>
            </a:r>
            <a:endParaRPr lang="en-US" sz="2000" dirty="0"/>
          </a:p>
        </p:txBody>
      </p:sp>
      <p:sp>
        <p:nvSpPr>
          <p:cNvPr id="26" name="Text 24"/>
          <p:cNvSpPr/>
          <p:nvPr/>
        </p:nvSpPr>
        <p:spPr>
          <a:xfrm>
            <a:off x="1097280" y="653796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Wrong-city title tag on property search sitemap</a:t>
            </a:r>
            <a:endParaRPr lang="en-US" sz="1600" dirty="0"/>
          </a:p>
        </p:txBody>
      </p:sp>
      <p:sp>
        <p:nvSpPr>
          <p:cNvPr id="27" name="Text 25"/>
          <p:cNvSpPr/>
          <p:nvPr/>
        </p:nvSpPr>
        <p:spPr>
          <a:xfrm>
            <a:off x="1097280" y="690372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The /property-search/site-map/ page displays 'Louisville Area MLS Listings' as its title -- a platform default from the wrong city entirely.</a:t>
            </a:r>
            <a:endParaRPr lang="en-US" sz="1200" dirty="0"/>
          </a:p>
        </p:txBody>
      </p:sp>
      <p:sp>
        <p:nvSpPr>
          <p:cNvPr id="28" name="Shape 26"/>
          <p:cNvSpPr/>
          <p:nvPr/>
        </p:nvSpPr>
        <p:spPr>
          <a:xfrm>
            <a:off x="457200" y="7589520"/>
            <a:ext cx="457200" cy="457200"/>
          </a:xfrm>
          <a:prstGeom prst="rect">
            <a:avLst>
              <a:gd name="adj" fmla="val 10000"/>
            </a:avLst>
          </a:prstGeom>
          <a:solidFill>
            <a:srgbClr val="E94560"/>
          </a:solidFill>
          <a:ln/>
        </p:spPr>
      </p:sp>
      <p:sp>
        <p:nvSpPr>
          <p:cNvPr id="29" name="Text 27"/>
          <p:cNvSpPr/>
          <p:nvPr/>
        </p:nvSpPr>
        <p:spPr>
          <a:xfrm>
            <a:off x="457200" y="7589520"/>
            <a:ext cx="457200" cy="45720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7</a:t>
            </a:r>
            <a:endParaRPr lang="en-US" sz="2000" dirty="0"/>
          </a:p>
        </p:txBody>
      </p:sp>
      <p:sp>
        <p:nvSpPr>
          <p:cNvPr id="30" name="Text 28"/>
          <p:cNvSpPr/>
          <p:nvPr/>
        </p:nvSpPr>
        <p:spPr>
          <a:xfrm>
            <a:off x="1097280" y="7589520"/>
            <a:ext cx="10058400" cy="365760"/>
          </a:xfrm>
          <a:prstGeom prst="rect">
            <a:avLst/>
          </a:prstGeom>
          <a:noFill/>
          <a:ln/>
        </p:spPr>
        <p:txBody>
          <a:bodyPr wrap="square" rtlCol="0" anchor="ctr"/>
          <a:lstStyle/>
          <a:p>
            <a:pPr indent="0" marL="0">
              <a:buNone/>
            </a:pPr>
            <a:r>
              <a:rPr lang="en-US" sz="1600" b="1" dirty="0">
                <a:solidFill>
                  <a:srgbClr val="1A1A2E"/>
                </a:solidFill>
                <a:latin typeface="Arial" pitchFamily="34" charset="0"/>
                <a:ea typeface="Arial" pitchFamily="34" charset="-122"/>
                <a:cs typeface="Arial" pitchFamily="34" charset="-120"/>
              </a:rPr>
              <a:t>Missing from highest-value keywords</a:t>
            </a:r>
            <a:endParaRPr lang="en-US" sz="1600" dirty="0"/>
          </a:p>
        </p:txBody>
      </p:sp>
      <p:sp>
        <p:nvSpPr>
          <p:cNvPr id="31" name="Text 29"/>
          <p:cNvSpPr/>
          <p:nvPr/>
        </p:nvSpPr>
        <p:spPr>
          <a:xfrm>
            <a:off x="1097280" y="7955280"/>
            <a:ext cx="10058400" cy="45720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Not ranking at all for 'mammoth lakes homes for sale' (1,600 mo/search), 'mammoth mountain homes for sale' (1,600), 'mammoth lakes condos for sale' (590), 'mammoth lakes vacation homes' (1,300), or 'june lake homes for sale' (590). Only 5 of 10 tracked keywords show any ranking.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Search Visibility: 5 of 25 Keywords</a:t>
            </a:r>
            <a:endParaRPr lang="en-US" sz="2800" dirty="0"/>
          </a:p>
        </p:txBody>
      </p:sp>
      <p:sp>
        <p:nvSpPr>
          <p:cNvPr id="4" name="Text 2"/>
          <p:cNvSpPr/>
          <p:nvPr/>
        </p:nvSpPr>
        <p:spPr>
          <a:xfrm>
            <a:off x="457200" y="1188720"/>
            <a:ext cx="10972800" cy="73152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We tested 25 keywords covering brand, type, area, intent, and long-tail terms.</a:t>
            </a:r>
            <a:endParaRPr lang="en-US" sz="1400" dirty="0"/>
          </a:p>
          <a:p>
            <a:pPr indent="0" marL="0">
              <a:buNone/>
            </a:pPr>
            <a:r>
              <a:rPr lang="en-US" sz="1400" dirty="0">
                <a:solidFill>
                  <a:srgbClr val="666666"/>
                </a:solidFill>
                <a:latin typeface="Arial" pitchFamily="34" charset="0"/>
                <a:ea typeface="Arial" pitchFamily="34" charset="-122"/>
                <a:cs typeface="Arial" pitchFamily="34" charset="-120"/>
              </a:rPr>
              <a:t>mammothlakesproperties.com was found for 5 of them.</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103120"/>
          <a:ext cx="10972800" cy="914400"/>
        </p:xfrm>
        <a:graphic>
          <a:graphicData uri="http://schemas.openxmlformats.org/drawingml/2006/table">
            <a:tbl>
              <a:tblPr/>
              <a:tblGrid>
                <a:gridCol w="3200400"/>
                <a:gridCol w="1371600"/>
                <a:gridCol w="1828800"/>
                <a:gridCol w="1828800"/>
                <a:gridCol w="274320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Keyword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Volume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Your Site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Mammoth Lakes Resort Realty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#1 Result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1600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#9 RE/MAX, #11 Resort Realty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mountain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1600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#17 Resort Realty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ca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1600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#11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#9 RE/MAX, #13 Resort Realty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vacation homes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1300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vrbo.com / airbnb.com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real estate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720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#16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#6 RE/MAX, #11 Resort Realty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properties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720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#8 Village Props, #10 RE/MAX</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mammothlakesproperties.com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condos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590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E74C3C"/>
                          </a:solidFill>
                          <a:latin typeface="Arial" pitchFamily="34" charset="0"/>
                          <a:ea typeface="Arial" pitchFamily="34" charset="-122"/>
                          <a:cs typeface="Arial" pitchFamily="34" charset="-120"/>
                        </a:rPr>
                        <a:t>Not found</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#11 Mammoth1, #16 Resort Realty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mountain real estate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590</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#17</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27AE60"/>
                          </a:solidFill>
                          <a:latin typeface="Arial" pitchFamily="34" charset="0"/>
                          <a:ea typeface="Arial" pitchFamily="34" charset="-122"/>
                          <a:cs typeface="Arial" pitchFamily="34" charset="-120"/>
                        </a:rPr>
                        <a:t>#7 RE/MAX, #13 Village Props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zillow.com</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Content Gap</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10972800" cy="914400"/>
        </p:xfrm>
        <a:graphic>
          <a:graphicData uri="http://schemas.openxmlformats.org/drawingml/2006/table">
            <a:tbl>
              <a:tblPr/>
              <a:tblGrid>
                <a:gridCol w="2286000"/>
                <a:gridCol w="1828800"/>
                <a:gridCol w="2286000"/>
                <a:gridCol w="2286000"/>
                <a:gridCol w="22860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Metric</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Your Site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Mammoth Lakes Resort Realty</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RE/MAX Mammoth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Gap</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Mobile PageSpeed</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56 (Resort Realty)</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79 (RE/MAX)</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Worst of all three by far</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Mobile LCP</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15,812ms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6,268ms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4,053ms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4x slower than RE/MAX</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Mobile CLS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0.803</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0.345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0.0004</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2,000x worse than RE/MAX</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Mobile INP</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356ms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55ms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0ms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Worst interactivity</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Keywords Ranked (of 10)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 (Resort Realty)</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8 (RE/MAX)</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Least keyword coverage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Top 10 Rankings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RE/MAX dominates page 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Avg Position</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11.2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13.9</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Only branded term on page 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Schema Type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Organization (empty fields)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RealEstateAgent (full)</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None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Resort Realty has best schema</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H1 Tags (Homepage)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4 (broken)</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 (correct)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 (correct)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Only client has H1 issues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Alt Text Coverage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79% homepage / 6% listings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14% homepage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96% homepage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RE/MAX leads; all have issues on listings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DOM Elements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2,607</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1,246</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2,110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Most bloated DOM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Scripts Loaded</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E74C3C"/>
                          </a:solidFill>
                          <a:latin typeface="Arial" pitchFamily="34" charset="0"/>
                          <a:ea typeface="Arial" pitchFamily="34" charset="-122"/>
                          <a:cs typeface="Arial" pitchFamily="34" charset="-120"/>
                        </a:rPr>
                        <a:t>52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26</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E74C3C"/>
                          </a:solidFill>
                          <a:latin typeface="Arial" pitchFamily="34" charset="0"/>
                          <a:ea typeface="Arial" pitchFamily="34" charset="-122"/>
                          <a:cs typeface="Arial" pitchFamily="34" charset="-120"/>
                        </a:rPr>
                        <a:t>2x more scripts than competitors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What Top Competitors Are Doing Right</a:t>
            </a:r>
            <a:endParaRPr lang="en-US" sz="2800" dirty="0"/>
          </a:p>
        </p:txBody>
      </p:sp>
      <p:sp>
        <p:nvSpPr>
          <p:cNvPr id="4" name="Text 2"/>
          <p:cNvSpPr/>
          <p:nvPr/>
        </p:nvSpPr>
        <p:spPr>
          <a:xfrm>
            <a:off x="457200" y="128016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Superior Schema Markup (Resort Realty)</a:t>
            </a:r>
            <a:endParaRPr lang="en-US" sz="1400" dirty="0"/>
          </a:p>
        </p:txBody>
      </p:sp>
      <p:sp>
        <p:nvSpPr>
          <p:cNvPr id="5" name="Text 3"/>
          <p:cNvSpPr/>
          <p:nvPr/>
        </p:nvSpPr>
        <p:spPr>
          <a:xfrm>
            <a:off x="2926080" y="128016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Mammoth Lakes Resort Realty uses RealEstateAgent schema with full address, geo coordinates, areaServed, sameAs links to social profiles. This enables rich results and knowledge panel potential. Client has generic Organization with empty name field.</a:t>
            </a:r>
            <a:endParaRPr lang="en-US" sz="1100" dirty="0"/>
          </a:p>
        </p:txBody>
      </p:sp>
      <p:sp>
        <p:nvSpPr>
          <p:cNvPr id="6" name="Text 4"/>
          <p:cNvSpPr/>
          <p:nvPr/>
        </p:nvSpPr>
        <p:spPr>
          <a:xfrm>
            <a:off x="457200" y="214884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Lean Site Architecture (Resort Realty)</a:t>
            </a:r>
            <a:endParaRPr lang="en-US" sz="1400" dirty="0"/>
          </a:p>
        </p:txBody>
      </p:sp>
      <p:sp>
        <p:nvSpPr>
          <p:cNvPr id="7" name="Text 5"/>
          <p:cNvSpPr/>
          <p:nvPr/>
        </p:nvSpPr>
        <p:spPr>
          <a:xfrm>
            <a:off x="2926080" y="214884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Resort Realty runs only 1,246 DOM elements and 23 scripts vs. client's 2,607 elements and 52 scripts, resulting in faster load times and better mobile experience despite both being local real estate sites.</a:t>
            </a:r>
            <a:endParaRPr lang="en-US" sz="1100" dirty="0"/>
          </a:p>
        </p:txBody>
      </p:sp>
      <p:sp>
        <p:nvSpPr>
          <p:cNvPr id="8" name="Text 6"/>
          <p:cNvSpPr/>
          <p:nvPr/>
        </p:nvSpPr>
        <p:spPr>
          <a:xfrm>
            <a:off x="457200" y="301752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RE/MAX Dominates Page 1 Rankings</a:t>
            </a:r>
            <a:endParaRPr lang="en-US" sz="1400" dirty="0"/>
          </a:p>
        </p:txBody>
      </p:sp>
      <p:sp>
        <p:nvSpPr>
          <p:cNvPr id="9" name="Text 7"/>
          <p:cNvSpPr/>
          <p:nvPr/>
        </p:nvSpPr>
        <p:spPr>
          <a:xfrm>
            <a:off x="2926080" y="301752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RE/MAX Mammoth ranks in the top 10 for 7 of 10 tracked keywords with avg position 9.2. They achieve this with a simple but fast site (79/100 mobile PageSpeed, near-zero CLS), proper heading structure, and 96% alt text coverage on homepage images.</a:t>
            </a:r>
            <a:endParaRPr lang="en-US" sz="1100" dirty="0"/>
          </a:p>
        </p:txBody>
      </p:sp>
      <p:sp>
        <p:nvSpPr>
          <p:cNvPr id="10" name="Text 8"/>
          <p:cNvSpPr/>
          <p:nvPr/>
        </p:nvSpPr>
        <p:spPr>
          <a:xfrm>
            <a:off x="457200" y="388620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Dedicated Niche Pages (Snowcreek, Resort Realty)</a:t>
            </a:r>
            <a:endParaRPr lang="en-US" sz="1400" dirty="0"/>
          </a:p>
        </p:txBody>
      </p:sp>
      <p:sp>
        <p:nvSpPr>
          <p:cNvPr id="11" name="Text 9"/>
          <p:cNvSpPr/>
          <p:nvPr/>
        </p:nvSpPr>
        <p:spPr>
          <a:xfrm>
            <a:off x="2926080" y="388620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Competitors create keyword-targeted pages like 'Ski-In/Ski-Out Condos for Sale' and 'Mammoth Mountain Chalet Homes for Sale' that rank for specific search intents. Client relies on generic IDX filter pages that don't target specific buyer interests.</a:t>
            </a:r>
            <a:endParaRPr lang="en-US" sz="1100" dirty="0"/>
          </a:p>
        </p:txBody>
      </p:sp>
      <p:sp>
        <p:nvSpPr>
          <p:cNvPr id="12" name="Text 10"/>
          <p:cNvSpPr/>
          <p:nvPr/>
        </p:nvSpPr>
        <p:spPr>
          <a:xfrm>
            <a:off x="457200" y="475488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Market Statistics Content (Resort Realty)</a:t>
            </a:r>
            <a:endParaRPr lang="en-US" sz="1400" dirty="0"/>
          </a:p>
        </p:txBody>
      </p:sp>
      <p:sp>
        <p:nvSpPr>
          <p:cNvPr id="13" name="Text 11"/>
          <p:cNvSpPr/>
          <p:nvPr/>
        </p:nvSpPr>
        <p:spPr>
          <a:xfrm>
            <a:off x="2926080" y="475488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Resort Realty's /market-statistics/ page ranks #11 for 'mammoth lakes real estate' (720/mo search volume). Client has no equivalent data-driven content despite this being a prime content opportunity.</a:t>
            </a:r>
            <a:endParaRPr lang="en-US" sz="1100" dirty="0"/>
          </a:p>
        </p:txBody>
      </p:sp>
      <p:sp>
        <p:nvSpPr>
          <p:cNvPr id="14" name="Text 12"/>
          <p:cNvSpPr/>
          <p:nvPr/>
        </p:nvSpPr>
        <p:spPr>
          <a:xfrm>
            <a:off x="457200" y="5623560"/>
            <a:ext cx="2286000" cy="365760"/>
          </a:xfrm>
          <a:prstGeom prst="rect">
            <a:avLst/>
          </a:prstGeom>
          <a:noFill/>
          <a:ln/>
        </p:spPr>
        <p:txBody>
          <a:bodyPr wrap="square" rtlCol="0" anchor="ctr"/>
          <a:lstStyle/>
          <a:p>
            <a:pPr indent="0" marL="0">
              <a:buNone/>
            </a:pPr>
            <a:r>
              <a:rPr lang="en-US" sz="1400" b="1" dirty="0">
                <a:solidFill>
                  <a:srgbClr val="0F3460"/>
                </a:solidFill>
                <a:latin typeface="Arial" pitchFamily="34" charset="0"/>
                <a:ea typeface="Arial" pitchFamily="34" charset="-122"/>
                <a:cs typeface="Arial" pitchFamily="34" charset="-120"/>
              </a:rPr>
              <a:t>Community-Specific Landing Pages</a:t>
            </a:r>
            <a:endParaRPr lang="en-US" sz="1400" dirty="0"/>
          </a:p>
        </p:txBody>
      </p:sp>
      <p:sp>
        <p:nvSpPr>
          <p:cNvPr id="15" name="Text 13"/>
          <p:cNvSpPr/>
          <p:nvPr/>
        </p:nvSpPr>
        <p:spPr>
          <a:xfrm>
            <a:off x="2926080" y="5623560"/>
            <a:ext cx="8686800" cy="685800"/>
          </a:xfrm>
          <a:prstGeom prst="rect">
            <a:avLst/>
          </a:prstGeom>
          <a:noFill/>
          <a:ln/>
        </p:spPr>
        <p:txBody>
          <a:bodyPr wrap="square" rtlCol="0" anchor="ctr"/>
          <a:lstStyle/>
          <a:p>
            <a:pPr indent="0" marL="0">
              <a:buNone/>
            </a:pPr>
            <a:r>
              <a:rPr lang="en-US" sz="1100" dirty="0">
                <a:solidFill>
                  <a:srgbClr val="666666"/>
                </a:solidFill>
                <a:latin typeface="Arial" pitchFamily="34" charset="0"/>
                <a:ea typeface="Arial" pitchFamily="34" charset="-122"/>
                <a:cs typeface="Arial" pitchFamily="34" charset="-120"/>
              </a:rPr>
              <a:t>RE/MAX has dedicated pages for June Lake and Crowley Lake real estate that rank #9 and #6 respectively. Client's Crowley Lake page ranks #11 but through a filter page (/open-houses/), not a dedicated landing page.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Growth Strategy: 4 Pillars</a:t>
            </a:r>
            <a:endParaRPr lang="en-US" sz="2800" dirty="0"/>
          </a:p>
        </p:txBody>
      </p:sp>
      <p:sp>
        <p:nvSpPr>
          <p:cNvPr id="4" name="Shape 2"/>
          <p:cNvSpPr/>
          <p:nvPr/>
        </p:nvSpPr>
        <p:spPr>
          <a:xfrm>
            <a:off x="457200" y="1371600"/>
            <a:ext cx="2651760" cy="4389120"/>
          </a:xfrm>
          <a:prstGeom prst="rect">
            <a:avLst>
              <a:gd name="adj" fmla="val 3448"/>
            </a:avLst>
          </a:prstGeom>
          <a:solidFill>
            <a:srgbClr val="0F3460"/>
          </a:solidFill>
          <a:ln/>
        </p:spPr>
      </p:sp>
      <p:sp>
        <p:nvSpPr>
          <p:cNvPr id="5" name="Text 3"/>
          <p:cNvSpPr/>
          <p:nvPr/>
        </p:nvSpPr>
        <p:spPr>
          <a:xfrm>
            <a:off x="45720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TECHNICAL</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FIXES</a:t>
            </a:r>
            <a:endParaRPr lang="en-US" sz="2000" dirty="0"/>
          </a:p>
        </p:txBody>
      </p:sp>
      <p:sp>
        <p:nvSpPr>
          <p:cNvPr id="6" name="Shape 4"/>
          <p:cNvSpPr/>
          <p:nvPr/>
        </p:nvSpPr>
        <p:spPr>
          <a:xfrm>
            <a:off x="731520" y="2743200"/>
            <a:ext cx="2103120" cy="18288"/>
          </a:xfrm>
          <a:prstGeom prst="rect">
            <a:avLst/>
          </a:prstGeom>
          <a:solidFill>
            <a:srgbClr val="FFFFFF"/>
          </a:solidFill>
          <a:ln/>
        </p:spPr>
      </p:sp>
      <p:sp>
        <p:nvSpPr>
          <p:cNvPr id="7" name="Text 5"/>
          <p:cNvSpPr/>
          <p:nvPr/>
        </p:nvSpPr>
        <p:spPr>
          <a:xfrm>
            <a:off x="64008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Fix H1 tags, schema markup,</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wrong-city title, canonical tags,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alt text, OG tags</a:t>
            </a:r>
            <a:endParaRPr lang="en-US" sz="1200" dirty="0"/>
          </a:p>
        </p:txBody>
      </p:sp>
      <p:sp>
        <p:nvSpPr>
          <p:cNvPr id="8" name="Text 6"/>
          <p:cNvSpPr/>
          <p:nvPr/>
        </p:nvSpPr>
        <p:spPr>
          <a:xfrm>
            <a:off x="45720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 1-2</a:t>
            </a:r>
            <a:endParaRPr lang="en-US" sz="1300" dirty="0"/>
          </a:p>
        </p:txBody>
      </p:sp>
      <p:sp>
        <p:nvSpPr>
          <p:cNvPr id="9" name="Shape 7"/>
          <p:cNvSpPr/>
          <p:nvPr/>
        </p:nvSpPr>
        <p:spPr>
          <a:xfrm>
            <a:off x="3337560" y="1371600"/>
            <a:ext cx="2651760" cy="4389120"/>
          </a:xfrm>
          <a:prstGeom prst="rect">
            <a:avLst>
              <a:gd name="adj" fmla="val 3448"/>
            </a:avLst>
          </a:prstGeom>
          <a:solidFill>
            <a:srgbClr val="16213E"/>
          </a:solidFill>
          <a:ln/>
        </p:spPr>
      </p:sp>
      <p:sp>
        <p:nvSpPr>
          <p:cNvPr id="10" name="Text 8"/>
          <p:cNvSpPr/>
          <p:nvPr/>
        </p:nvSpPr>
        <p:spPr>
          <a:xfrm>
            <a:off x="333756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PERFORMANCE</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CRISIS</a:t>
            </a:r>
            <a:endParaRPr lang="en-US" sz="2000" dirty="0"/>
          </a:p>
        </p:txBody>
      </p:sp>
      <p:sp>
        <p:nvSpPr>
          <p:cNvPr id="11" name="Shape 9"/>
          <p:cNvSpPr/>
          <p:nvPr/>
        </p:nvSpPr>
        <p:spPr>
          <a:xfrm>
            <a:off x="3611880" y="2743200"/>
            <a:ext cx="2103120" cy="18288"/>
          </a:xfrm>
          <a:prstGeom prst="rect">
            <a:avLst/>
          </a:prstGeom>
          <a:solidFill>
            <a:srgbClr val="FFFFFF"/>
          </a:solidFill>
          <a:ln/>
        </p:spPr>
      </p:sp>
      <p:sp>
        <p:nvSpPr>
          <p:cNvPr id="12" name="Text 10"/>
          <p:cNvSpPr/>
          <p:nvPr/>
        </p:nvSpPr>
        <p:spPr>
          <a:xfrm>
            <a:off x="352044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Remove unused JS (1,027 KiB),</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fix CLS (0.80), optimize images,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reduce 52 scripts</a:t>
            </a:r>
            <a:endParaRPr lang="en-US" sz="1200" dirty="0"/>
          </a:p>
        </p:txBody>
      </p:sp>
      <p:sp>
        <p:nvSpPr>
          <p:cNvPr id="13" name="Text 11"/>
          <p:cNvSpPr/>
          <p:nvPr/>
        </p:nvSpPr>
        <p:spPr>
          <a:xfrm>
            <a:off x="333756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Week 2-4</a:t>
            </a:r>
            <a:endParaRPr lang="en-US" sz="1300" dirty="0"/>
          </a:p>
        </p:txBody>
      </p:sp>
      <p:sp>
        <p:nvSpPr>
          <p:cNvPr id="14" name="Shape 12"/>
          <p:cNvSpPr/>
          <p:nvPr/>
        </p:nvSpPr>
        <p:spPr>
          <a:xfrm>
            <a:off x="6217920" y="1371600"/>
            <a:ext cx="2651760" cy="4389120"/>
          </a:xfrm>
          <a:prstGeom prst="rect">
            <a:avLst>
              <a:gd name="adj" fmla="val 3448"/>
            </a:avLst>
          </a:prstGeom>
          <a:solidFill>
            <a:srgbClr val="1A1A2E"/>
          </a:solidFill>
          <a:ln/>
        </p:spPr>
      </p:sp>
      <p:sp>
        <p:nvSpPr>
          <p:cNvPr id="15" name="Text 13"/>
          <p:cNvSpPr/>
          <p:nvPr/>
        </p:nvSpPr>
        <p:spPr>
          <a:xfrm>
            <a:off x="621792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CONTENT</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AUTHORITY</a:t>
            </a:r>
            <a:endParaRPr lang="en-US" sz="2000" dirty="0"/>
          </a:p>
        </p:txBody>
      </p:sp>
      <p:sp>
        <p:nvSpPr>
          <p:cNvPr id="16" name="Shape 14"/>
          <p:cNvSpPr/>
          <p:nvPr/>
        </p:nvSpPr>
        <p:spPr>
          <a:xfrm>
            <a:off x="6492240" y="2743200"/>
            <a:ext cx="2103120" cy="18288"/>
          </a:xfrm>
          <a:prstGeom prst="rect">
            <a:avLst/>
          </a:prstGeom>
          <a:solidFill>
            <a:srgbClr val="FFFFFF"/>
          </a:solidFill>
          <a:ln/>
        </p:spPr>
      </p:sp>
      <p:sp>
        <p:nvSpPr>
          <p:cNvPr id="17" name="Text 15"/>
          <p:cNvSpPr/>
          <p:nvPr/>
        </p:nvSpPr>
        <p:spPr>
          <a:xfrm>
            <a:off x="640080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Market reports, buyer guides,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community pages, blog posts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targeting 1,600/mo keywords</a:t>
            </a:r>
            <a:endParaRPr lang="en-US" sz="1200" dirty="0"/>
          </a:p>
        </p:txBody>
      </p:sp>
      <p:sp>
        <p:nvSpPr>
          <p:cNvPr id="18" name="Text 16"/>
          <p:cNvSpPr/>
          <p:nvPr/>
        </p:nvSpPr>
        <p:spPr>
          <a:xfrm>
            <a:off x="621792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Month 1-3</a:t>
            </a:r>
            <a:endParaRPr lang="en-US" sz="1300" dirty="0"/>
          </a:p>
        </p:txBody>
      </p:sp>
      <p:sp>
        <p:nvSpPr>
          <p:cNvPr id="19" name="Shape 17"/>
          <p:cNvSpPr/>
          <p:nvPr/>
        </p:nvSpPr>
        <p:spPr>
          <a:xfrm>
            <a:off x="9098280" y="1371600"/>
            <a:ext cx="2651760" cy="4389120"/>
          </a:xfrm>
          <a:prstGeom prst="rect">
            <a:avLst>
              <a:gd name="adj" fmla="val 3448"/>
            </a:avLst>
          </a:prstGeom>
          <a:solidFill>
            <a:srgbClr val="E94560"/>
          </a:solidFill>
          <a:ln/>
        </p:spPr>
      </p:sp>
      <p:sp>
        <p:nvSpPr>
          <p:cNvPr id="20" name="Text 18"/>
          <p:cNvSpPr/>
          <p:nvPr/>
        </p:nvSpPr>
        <p:spPr>
          <a:xfrm>
            <a:off x="9098280" y="1554480"/>
            <a:ext cx="2651760" cy="1097280"/>
          </a:xfrm>
          <a:prstGeom prst="rect">
            <a:avLst/>
          </a:prstGeom>
          <a:noFill/>
          <a:ln/>
        </p:spPr>
        <p:txBody>
          <a:bodyPr wrap="square"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LONG-TERM</a:t>
            </a:r>
            <a:endParaRPr lang="en-US" sz="2000" dirty="0"/>
          </a:p>
          <a:p>
            <a:pPr algn="ctr" indent="0" marL="0">
              <a:buNone/>
            </a:pPr>
            <a:r>
              <a:rPr lang="en-US" sz="2000" b="1" dirty="0">
                <a:solidFill>
                  <a:srgbClr val="FFFFFF"/>
                </a:solidFill>
                <a:latin typeface="Arial" pitchFamily="34" charset="0"/>
                <a:ea typeface="Arial" pitchFamily="34" charset="-122"/>
                <a:cs typeface="Arial" pitchFamily="34" charset="-120"/>
              </a:rPr>
              <a:t>GROWTH</a:t>
            </a:r>
            <a:endParaRPr lang="en-US" sz="2000" dirty="0"/>
          </a:p>
        </p:txBody>
      </p:sp>
      <p:sp>
        <p:nvSpPr>
          <p:cNvPr id="21" name="Shape 19"/>
          <p:cNvSpPr/>
          <p:nvPr/>
        </p:nvSpPr>
        <p:spPr>
          <a:xfrm>
            <a:off x="9372600" y="2743200"/>
            <a:ext cx="2103120" cy="18288"/>
          </a:xfrm>
          <a:prstGeom prst="rect">
            <a:avLst/>
          </a:prstGeom>
          <a:solidFill>
            <a:srgbClr val="FFFFFF"/>
          </a:solidFill>
          <a:ln/>
        </p:spPr>
      </p:sp>
      <p:sp>
        <p:nvSpPr>
          <p:cNvPr id="22" name="Text 20"/>
          <p:cNvSpPr/>
          <p:nvPr/>
        </p:nvSpPr>
        <p:spPr>
          <a:xfrm>
            <a:off x="9281160" y="2926080"/>
            <a:ext cx="2286000" cy="1828800"/>
          </a:xfrm>
          <a:prstGeom prst="rect">
            <a:avLst/>
          </a:prstGeom>
          <a:noFill/>
          <a:ln/>
        </p:spPr>
        <p:txBody>
          <a:bodyPr wrap="square" rtlCol="0" anchor="ctr"/>
          <a:lstStyle/>
          <a:p>
            <a:pPr algn="ctr" indent="0" marL="0">
              <a:buNone/>
            </a:pPr>
            <a:r>
              <a:rPr lang="en-US" sz="1200" dirty="0">
                <a:solidFill>
                  <a:srgbClr val="FFFFFF"/>
                </a:solidFill>
                <a:latin typeface="Arial" pitchFamily="34" charset="0"/>
                <a:ea typeface="Arial" pitchFamily="34" charset="-122"/>
                <a:cs typeface="Arial" pitchFamily="34" charset="-120"/>
              </a:rPr>
              <a:t>Monthly market data, video content,</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email newsletter, local citations,</a:t>
            </a:r>
            <a:endParaRPr lang="en-US" sz="1200" dirty="0"/>
          </a:p>
          <a:p>
            <a:pPr algn="ctr" indent="0" marL="0">
              <a:buNone/>
            </a:pPr>
            <a:r>
              <a:rPr lang="en-US" sz="1200" dirty="0">
                <a:solidFill>
                  <a:srgbClr val="FFFFFF"/>
                </a:solidFill>
                <a:latin typeface="Arial" pitchFamily="34" charset="0"/>
                <a:ea typeface="Arial" pitchFamily="34" charset="-122"/>
                <a:cs typeface="Arial" pitchFamily="34" charset="-120"/>
              </a:rPr>
              <a:t>AI optimization</a:t>
            </a:r>
            <a:endParaRPr lang="en-US" sz="1200" dirty="0"/>
          </a:p>
        </p:txBody>
      </p:sp>
      <p:sp>
        <p:nvSpPr>
          <p:cNvPr id="23" name="Text 21"/>
          <p:cNvSpPr/>
          <p:nvPr/>
        </p:nvSpPr>
        <p:spPr>
          <a:xfrm>
            <a:off x="9098280" y="5029200"/>
            <a:ext cx="2651760" cy="548640"/>
          </a:xfrm>
          <a:prstGeom prst="rect">
            <a:avLst/>
          </a:prstGeom>
          <a:solidFill>
            <a:srgbClr val="000000">
              <a:alpha val="70000"/>
            </a:srgbClr>
          </a:solid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Month 3+</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Quick Wins: Week 1-2 (Low Effort, High Impact)</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10972800" cy="914400"/>
        </p:xfrm>
        <a:graphic>
          <a:graphicData uri="http://schemas.openxmlformats.org/drawingml/2006/table">
            <a:tbl>
              <a:tblPr/>
              <a:tblGrid>
                <a:gridCol w="457200"/>
                <a:gridCol w="7772400"/>
                <a:gridCol w="1371600"/>
                <a:gridCol w="1371600"/>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Action</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Impact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Effort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Fix 'Louisville Area MLS Listings' title tag on /property-search/site-map/</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Consolidate homepage to single H1 tag ('Find Your Mammoth Lakes Home')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Fix blog H1s (change post titles from H1 to H2)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H1 tag to property search results page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Fix empty 'name' field in Organization schema on homepage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Fix empty author/publisher fields in Article schema on blog/about</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canonical tags to all /property-search/ pages</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Complete Open Graph tags (add og:title, og:url, og:description) site-wide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9</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Twitter Card meta tags site-wide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Upgrade Organization schema to RealEstateAgent with full business data</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27AE60"/>
                          </a:solidFill>
                          <a:latin typeface="Arial" pitchFamily="34" charset="0"/>
                          <a:ea typeface="Arial" pitchFamily="34" charset="-122"/>
                          <a:cs typeface="Arial" pitchFamily="34" charset="-120"/>
                        </a:rPr>
                        <a:t>High</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Add schema markup to community pages, contact page, community-info</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Medium</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200" dirty="0">
                          <a:solidFill>
                            <a:srgbClr val="000000"/>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000000"/>
                          </a:solidFill>
                          <a:latin typeface="Arial" pitchFamily="34" charset="0"/>
                          <a:ea typeface="Arial" pitchFamily="34" charset="-122"/>
                          <a:cs typeface="Arial" pitchFamily="34" charset="-120"/>
                        </a:rPr>
                        <a:t>Fix about page schema type from Article to AboutPage</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b="1" dirty="0">
                          <a:solidFill>
                            <a:srgbClr val="F39C12"/>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200" dirty="0">
                          <a:solidFill>
                            <a:srgbClr val="27AE60"/>
                          </a:solidFill>
                          <a:latin typeface="Arial" pitchFamily="34" charset="0"/>
                          <a:ea typeface="Arial" pitchFamily="34" charset="-122"/>
                          <a:cs typeface="Arial" pitchFamily="34" charset="-120"/>
                        </a:rPr>
                        <a:t>Low</a:t>
                      </a:r>
                      <a:endParaRPr lang="en-US" sz="12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5" name="Text 2"/>
          <p:cNvSpPr/>
          <p:nvPr/>
        </p:nvSpPr>
        <p:spPr>
          <a:xfrm>
            <a:off x="457200" y="5943600"/>
            <a:ext cx="10972800" cy="365760"/>
          </a:xfrm>
          <a:prstGeom prst="rect">
            <a:avLst/>
          </a:prstGeom>
          <a:noFill/>
          <a:ln/>
        </p:spPr>
        <p:txBody>
          <a:bodyPr wrap="square" rtlCol="0" anchor="ctr"/>
          <a:lstStyle/>
          <a:p>
            <a:pPr indent="0" marL="0">
              <a:buNone/>
            </a:pPr>
            <a:r>
              <a:rPr lang="en-US" sz="1200" b="1" dirty="0">
                <a:solidFill>
                  <a:srgbClr val="27AE60"/>
                </a:solidFill>
                <a:latin typeface="Arial" pitchFamily="34" charset="0"/>
                <a:ea typeface="Arial" pitchFamily="34" charset="-122"/>
                <a:cs typeface="Arial" pitchFamily="34" charset="-120"/>
              </a:rPr>
              <a:t>All 12 items are low effort and can be completed by a developer in 1-2 business days.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Content Strategy: Month 1-2</a:t>
            </a:r>
            <a:endParaRPr lang="en-US" sz="2800" dirty="0"/>
          </a:p>
        </p:txBody>
      </p:sp>
      <p:sp>
        <p:nvSpPr>
          <p:cNvPr id="4" name="Text 2"/>
          <p:cNvSpPr/>
          <p:nvPr/>
        </p:nvSpPr>
        <p:spPr>
          <a:xfrm>
            <a:off x="457200" y="1188720"/>
            <a:ext cx="5486400" cy="457200"/>
          </a:xfrm>
          <a:prstGeom prst="rect">
            <a:avLst/>
          </a:prstGeom>
          <a:noFill/>
          <a:ln/>
        </p:spPr>
        <p:txBody>
          <a:bodyPr wrap="square" rtlCol="0" anchor="ctr"/>
          <a:lstStyle/>
          <a:p>
            <a:pPr indent="0" marL="0">
              <a:buNone/>
            </a:pPr>
            <a:r>
              <a:rPr lang="en-US" sz="1800" b="1" dirty="0">
                <a:solidFill>
                  <a:srgbClr val="1A1A2E"/>
                </a:solidFill>
                <a:latin typeface="Arial" pitchFamily="34" charset="0"/>
                <a:ea typeface="Arial" pitchFamily="34" charset="-122"/>
                <a:cs typeface="Arial" pitchFamily="34" charset="-120"/>
              </a:rPr>
              <a:t>Priority Content Actions</a:t>
            </a:r>
            <a:endParaRPr lang="en-US" sz="1800" dirty="0"/>
          </a:p>
        </p:txBody>
      </p:sp>
      <p:sp>
        <p:nvSpPr>
          <p:cNvPr id="5" name="Shape 3"/>
          <p:cNvSpPr/>
          <p:nvPr/>
        </p:nvSpPr>
        <p:spPr>
          <a:xfrm>
            <a:off x="457200" y="1783080"/>
            <a:ext cx="228600" cy="228600"/>
          </a:xfrm>
          <a:prstGeom prst="rect">
            <a:avLst>
              <a:gd name="adj" fmla="val 8000"/>
            </a:avLst>
          </a:prstGeom>
          <a:solidFill>
            <a:srgbClr val="E94560"/>
          </a:solidFill>
          <a:ln/>
        </p:spPr>
      </p:sp>
      <p:sp>
        <p:nvSpPr>
          <p:cNvPr id="6" name="Text 4"/>
          <p:cNvSpPr/>
          <p:nvPr/>
        </p:nvSpPr>
        <p:spPr>
          <a:xfrm>
            <a:off x="914400" y="1737360"/>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Add alt text to all listing images (1,800+ affected)</a:t>
            </a:r>
            <a:endParaRPr lang="en-US" sz="1300" dirty="0"/>
          </a:p>
        </p:txBody>
      </p:sp>
      <p:sp>
        <p:nvSpPr>
          <p:cNvPr id="7" name="Shape 5"/>
          <p:cNvSpPr/>
          <p:nvPr/>
        </p:nvSpPr>
        <p:spPr>
          <a:xfrm>
            <a:off x="457200" y="2313432"/>
            <a:ext cx="228600" cy="228600"/>
          </a:xfrm>
          <a:prstGeom prst="rect">
            <a:avLst>
              <a:gd name="adj" fmla="val 8000"/>
            </a:avLst>
          </a:prstGeom>
          <a:solidFill>
            <a:srgbClr val="E94560"/>
          </a:solidFill>
          <a:ln/>
        </p:spPr>
      </p:sp>
      <p:sp>
        <p:nvSpPr>
          <p:cNvPr id="8" name="Text 6"/>
          <p:cNvSpPr/>
          <p:nvPr/>
        </p:nvSpPr>
        <p:spPr>
          <a:xfrm>
            <a:off x="914400" y="2267712"/>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Reduce unused JavaScript (1,027 KiB identified)</a:t>
            </a:r>
            <a:endParaRPr lang="en-US" sz="1300" dirty="0"/>
          </a:p>
        </p:txBody>
      </p:sp>
      <p:sp>
        <p:nvSpPr>
          <p:cNvPr id="9" name="Shape 7"/>
          <p:cNvSpPr/>
          <p:nvPr/>
        </p:nvSpPr>
        <p:spPr>
          <a:xfrm>
            <a:off x="457200" y="2843784"/>
            <a:ext cx="228600" cy="228600"/>
          </a:xfrm>
          <a:prstGeom prst="rect">
            <a:avLst>
              <a:gd name="adj" fmla="val 8000"/>
            </a:avLst>
          </a:prstGeom>
          <a:solidFill>
            <a:srgbClr val="E94560"/>
          </a:solidFill>
          <a:ln/>
        </p:spPr>
      </p:sp>
      <p:sp>
        <p:nvSpPr>
          <p:cNvPr id="10" name="Text 8"/>
          <p:cNvSpPr/>
          <p:nvPr/>
        </p:nvSpPr>
        <p:spPr>
          <a:xfrm>
            <a:off x="914400" y="2798064"/>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Add width/height attributes to images to fix CLS (0.80)</a:t>
            </a:r>
            <a:endParaRPr lang="en-US" sz="1300" dirty="0"/>
          </a:p>
        </p:txBody>
      </p:sp>
      <p:sp>
        <p:nvSpPr>
          <p:cNvPr id="11" name="Shape 9"/>
          <p:cNvSpPr/>
          <p:nvPr/>
        </p:nvSpPr>
        <p:spPr>
          <a:xfrm>
            <a:off x="457200" y="3374136"/>
            <a:ext cx="228600" cy="228600"/>
          </a:xfrm>
          <a:prstGeom prst="rect">
            <a:avLst>
              <a:gd name="adj" fmla="val 8000"/>
            </a:avLst>
          </a:prstGeom>
          <a:solidFill>
            <a:srgbClr val="E94560"/>
          </a:solidFill>
          <a:ln/>
        </p:spPr>
      </p:sp>
      <p:sp>
        <p:nvSpPr>
          <p:cNvPr id="12" name="Text 10"/>
          <p:cNvSpPr/>
          <p:nvPr/>
        </p:nvSpPr>
        <p:spPr>
          <a:xfrm>
            <a:off x="914400" y="3328416"/>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Create dedicated Mammoth Lakes market report page</a:t>
            </a:r>
            <a:endParaRPr lang="en-US" sz="1300" dirty="0"/>
          </a:p>
        </p:txBody>
      </p:sp>
      <p:sp>
        <p:nvSpPr>
          <p:cNvPr id="13" name="Shape 11"/>
          <p:cNvSpPr/>
          <p:nvPr/>
        </p:nvSpPr>
        <p:spPr>
          <a:xfrm>
            <a:off x="457200" y="3904488"/>
            <a:ext cx="228600" cy="228600"/>
          </a:xfrm>
          <a:prstGeom prst="rect">
            <a:avLst>
              <a:gd name="adj" fmla="val 8000"/>
            </a:avLst>
          </a:prstGeom>
          <a:solidFill>
            <a:srgbClr val="E94560"/>
          </a:solidFill>
          <a:ln/>
        </p:spPr>
      </p:sp>
      <p:sp>
        <p:nvSpPr>
          <p:cNvPr id="14" name="Text 12"/>
          <p:cNvSpPr/>
          <p:nvPr/>
        </p:nvSpPr>
        <p:spPr>
          <a:xfrm>
            <a:off x="914400" y="3858768"/>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Noindex or remove ~2,900 thin IDX filter pages from sitemap</a:t>
            </a:r>
            <a:endParaRPr lang="en-US" sz="1300" dirty="0"/>
          </a:p>
        </p:txBody>
      </p:sp>
      <p:sp>
        <p:nvSpPr>
          <p:cNvPr id="15" name="Shape 13"/>
          <p:cNvSpPr/>
          <p:nvPr/>
        </p:nvSpPr>
        <p:spPr>
          <a:xfrm>
            <a:off x="457200" y="4434840"/>
            <a:ext cx="228600" cy="228600"/>
          </a:xfrm>
          <a:prstGeom prst="rect">
            <a:avLst>
              <a:gd name="adj" fmla="val 8000"/>
            </a:avLst>
          </a:prstGeom>
          <a:solidFill>
            <a:srgbClr val="E94560"/>
          </a:solidFill>
          <a:ln/>
        </p:spPr>
      </p:sp>
      <p:sp>
        <p:nvSpPr>
          <p:cNvPr id="16" name="Text 14"/>
          <p:cNvSpPr/>
          <p:nvPr/>
        </p:nvSpPr>
        <p:spPr>
          <a:xfrm>
            <a:off x="914400" y="4389120"/>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Create keyword-optimized community landing pages for June Lake and Crowley Lake</a:t>
            </a:r>
            <a:endParaRPr lang="en-US" sz="1300" dirty="0"/>
          </a:p>
        </p:txBody>
      </p:sp>
      <p:sp>
        <p:nvSpPr>
          <p:cNvPr id="17" name="Shape 15"/>
          <p:cNvSpPr/>
          <p:nvPr/>
        </p:nvSpPr>
        <p:spPr>
          <a:xfrm>
            <a:off x="457200" y="4965192"/>
            <a:ext cx="228600" cy="228600"/>
          </a:xfrm>
          <a:prstGeom prst="rect">
            <a:avLst>
              <a:gd name="adj" fmla="val 8000"/>
            </a:avLst>
          </a:prstGeom>
          <a:solidFill>
            <a:srgbClr val="E94560"/>
          </a:solidFill>
          <a:ln/>
        </p:spPr>
      </p:sp>
      <p:sp>
        <p:nvSpPr>
          <p:cNvPr id="18" name="Text 16"/>
          <p:cNvSpPr/>
          <p:nvPr/>
        </p:nvSpPr>
        <p:spPr>
          <a:xfrm>
            <a:off x="914400" y="4919472"/>
            <a:ext cx="10515600" cy="411480"/>
          </a:xfrm>
          <a:prstGeom prst="rect">
            <a:avLst/>
          </a:prstGeom>
          <a:noFill/>
          <a:ln/>
        </p:spPr>
        <p:txBody>
          <a:bodyPr wrap="square" rtlCol="0" anchor="ctr"/>
          <a:lstStyle/>
          <a:p>
            <a:pPr indent="0" marL="0">
              <a:buNone/>
            </a:pPr>
            <a:r>
              <a:rPr lang="en-US" sz="1300" dirty="0">
                <a:solidFill>
                  <a:srgbClr val="1A1A2E"/>
                </a:solidFill>
                <a:latin typeface="Arial" pitchFamily="34" charset="0"/>
                <a:ea typeface="Arial" pitchFamily="34" charset="-122"/>
                <a:cs typeface="Arial" pitchFamily="34" charset="-120"/>
              </a:rPr>
              <a:t>Write 4-6 blog posts targeting high-volume keywords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Blog Content Calendar: Next 3 Months</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188720"/>
          <a:ext cx="11612880" cy="914400"/>
        </p:xfrm>
        <a:graphic>
          <a:graphicData uri="http://schemas.openxmlformats.org/drawingml/2006/table">
            <a:tbl>
              <a:tblPr/>
              <a:tblGrid>
                <a:gridCol w="914400"/>
                <a:gridCol w="4572000"/>
                <a:gridCol w="3200400"/>
                <a:gridCol w="1554480"/>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Week</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Topic</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Keyword Target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Type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 1: Fix Foundation &amp; Establish Authority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3460"/>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Real Estate Market Report: Spring 2026 Update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real estate market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Market Report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Best Ski-In/Ski-Out Properties in Mammoth Lakes (2026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mountain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Is Mammoth Lakes a Good Investment? Vacation Rental Income &amp; ROI Analysis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investment property</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Investment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Condo Buyer's Guide: Village, Chamonix, Snowcreek &amp; More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condos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Buyer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 2: Build Community Depth</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3460"/>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Moving to Mammoth Lakes: The Complete Relocation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living in mammoth lakes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Relocation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June Lake Real Estate: A Hidden Gem in the Eastern Sierra</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june lake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Area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vs. Big Bear: Which Mountain Town Is Right for You?</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mountain real estate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Comparison</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Short-Term Rental Rules: What Investors Need to Know in 2026</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property management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Investment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Month 3: Expand Reach &amp; Seasonal Content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0F3460"/>
                    </a:solidFill>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1</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Summer Real Estate Market Update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real estate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Market Report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2</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Crowley Lake &amp; Long Valley Homes: Eastern Sierra's Best Kept Secret</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crowley lake homes for sale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Area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3</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Luxury Homes: Mountain Estates &amp; Premium Properties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mammoth lakes luxury homes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Luxury 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100" dirty="0">
                          <a:solidFill>
                            <a:srgbClr val="000000"/>
                          </a:solidFill>
                          <a:latin typeface="Arial" pitchFamily="34" charset="0"/>
                          <a:ea typeface="Arial" pitchFamily="34" charset="-122"/>
                          <a:cs typeface="Arial" pitchFamily="34" charset="-120"/>
                        </a:rPr>
                        <a:t>Wk 4</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Top 10 Neighborhoods in Mammoth Lakes for Families, Skiers &amp; Investors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best mammoth lakes neighborhoods</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100" dirty="0">
                          <a:solidFill>
                            <a:srgbClr val="000000"/>
                          </a:solidFill>
                          <a:latin typeface="Arial" pitchFamily="34" charset="0"/>
                          <a:ea typeface="Arial" pitchFamily="34" charset="-122"/>
                          <a:cs typeface="Arial" pitchFamily="34" charset="-120"/>
                        </a:rPr>
                        <a:t>Guide</a:t>
                      </a:r>
                      <a:endParaRPr lang="en-US" sz="11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Ready-to-Deploy: What We've Already Built</a:t>
            </a:r>
            <a:endParaRPr lang="en-US" sz="2800" dirty="0"/>
          </a:p>
        </p:txBody>
      </p:sp>
      <p:sp>
        <p:nvSpPr>
          <p:cNvPr id="4" name="Text 2"/>
          <p:cNvSpPr/>
          <p:nvPr/>
        </p:nvSpPr>
        <p:spPr>
          <a:xfrm>
            <a:off x="457200" y="1188720"/>
            <a:ext cx="10972800" cy="457200"/>
          </a:xfrm>
          <a:prstGeom prst="rect">
            <a:avLst/>
          </a:prstGeom>
          <a:noFill/>
          <a:ln/>
        </p:spPr>
        <p:txBody>
          <a:bodyPr wrap="square" rtlCol="0" anchor="ctr"/>
          <a:lstStyle/>
          <a:p>
            <a:pPr indent="0" marL="0">
              <a:buNone/>
            </a:pPr>
            <a:r>
              <a:rPr lang="en-US" sz="1400" dirty="0">
                <a:solidFill>
                  <a:srgbClr val="666666"/>
                </a:solidFill>
                <a:latin typeface="Arial" pitchFamily="34" charset="0"/>
                <a:ea typeface="Arial" pitchFamily="34" charset="-122"/>
                <a:cs typeface="Arial" pitchFamily="34" charset="-120"/>
              </a:rPr>
              <a:t>These deliverables were created as part of this audit and are ready for implementation today.</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0972800" cy="914400"/>
        </p:xfrm>
        <a:graphic>
          <a:graphicData uri="http://schemas.openxmlformats.org/drawingml/2006/table">
            <a:tbl>
              <a:tblPr/>
              <a:tblGrid>
                <a:gridCol w="3200400"/>
                <a:gridCol w="2286000"/>
                <a:gridCol w="1828800"/>
                <a:gridCol w="3657600"/>
              </a:tblGrid>
              <a:tr h="0">
                <a:tc>
                  <a:txBody>
                    <a:bodyPr/>
                    <a:lstStyle/>
                    <a:p>
                      <a:pPr indent="0" marL="0">
                        <a:buNone/>
                      </a:pPr>
                      <a:r>
                        <a:rPr lang="en-US" sz="1300" b="1" dirty="0">
                          <a:solidFill>
                            <a:srgbClr val="FFFFFF"/>
                          </a:solidFill>
                          <a:latin typeface="Arial" pitchFamily="34" charset="0"/>
                          <a:ea typeface="Arial" pitchFamily="34" charset="-122"/>
                          <a:cs typeface="Arial" pitchFamily="34" charset="-120"/>
                        </a:rPr>
                        <a:t>Deliverable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Scope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Score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Status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1A1A2E"/>
                    </a:solidFill>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Meta Titles &amp; Descriptions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Homepage + key pages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TBD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To be created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Schema Markup (JSON-LD)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RealEstateAgent + Article + FAQ schemas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TBD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To be created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Key Pages (expanded content)</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Market report, community pages, buyer guide</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TBD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To be created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r h="0">
                <a:tc>
                  <a:txBody>
                    <a:bodyPr/>
                    <a:lstStyle/>
                    <a:p>
                      <a:pPr indent="0" marL="0">
                        <a:buNone/>
                      </a:pPr>
                      <a:r>
                        <a:rPr lang="en-US" sz="1300" dirty="0">
                          <a:solidFill>
                            <a:srgbClr val="000000"/>
                          </a:solidFill>
                          <a:latin typeface="Arial" pitchFamily="34" charset="0"/>
                          <a:ea typeface="Arial" pitchFamily="34" charset="-122"/>
                          <a:cs typeface="Arial" pitchFamily="34" charset="-120"/>
                        </a:rPr>
                        <a:t>Blog Posts (SEO-optimized)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4 posts targeting high-volume keywords</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b="1" dirty="0">
                          <a:solidFill>
                            <a:srgbClr val="27AE60"/>
                          </a:solidFill>
                          <a:latin typeface="Arial" pitchFamily="34" charset="0"/>
                          <a:ea typeface="Arial" pitchFamily="34" charset="-122"/>
                          <a:cs typeface="Arial" pitchFamily="34" charset="-120"/>
                        </a:rPr>
                        <a:t>TBD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c>
                  <a:txBody>
                    <a:bodyPr/>
                    <a:lstStyle/>
                    <a:p>
                      <a:pPr indent="0" marL="0">
                        <a:buNone/>
                      </a:pPr>
                      <a:r>
                        <a:rPr lang="en-US" sz="1300" dirty="0">
                          <a:solidFill>
                            <a:srgbClr val="000000"/>
                          </a:solidFill>
                          <a:latin typeface="Arial" pitchFamily="34" charset="0"/>
                          <a:ea typeface="Arial" pitchFamily="34" charset="-122"/>
                          <a:cs typeface="Arial" pitchFamily="34" charset="-120"/>
                        </a:rPr>
                        <a:t>To be created</a:t>
                      </a:r>
                      <a:endParaRPr lang="en-US" sz="1300" dirty="0">
                        <a:latin typeface="Arial" charset="0"/>
                        <a:ea typeface="Arial" charset="0"/>
                        <a:cs typeface="Arial" charset="0"/>
                      </a:endParaRPr>
                    </a:p>
                  </a:txBody>
                  <a:tcPr marL="91440" marR="91440" marT="45720" marB="45720">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tcPr>
                </a:tc>
              </a:tr>
            </a:tbl>
          </a:graphicData>
        </a:graphic>
      </p:graphicFrame>
      <p:sp>
        <p:nvSpPr>
          <p:cNvPr id="6" name="Text 3"/>
          <p:cNvSpPr/>
          <p:nvPr/>
        </p:nvSpPr>
        <p:spPr>
          <a:xfrm>
            <a:off x="457200" y="4114800"/>
            <a:ext cx="5486400" cy="365760"/>
          </a:xfrm>
          <a:prstGeom prst="rect">
            <a:avLst/>
          </a:prstGeom>
          <a:noFill/>
          <a:ln/>
        </p:spPr>
        <p:txBody>
          <a:bodyPr wrap="square" rtlCol="0" anchor="ctr"/>
          <a:lstStyle/>
          <a:p>
            <a:pPr indent="0" marL="0">
              <a:buNone/>
            </a:pPr>
            <a:r>
              <a:rPr lang="en-US" sz="1400" b="1" dirty="0">
                <a:solidFill>
                  <a:srgbClr val="1A1A2E"/>
                </a:solidFill>
                <a:latin typeface="Arial" pitchFamily="34" charset="0"/>
                <a:ea typeface="Arial" pitchFamily="34" charset="-122"/>
                <a:cs typeface="Arial" pitchFamily="34" charset="-120"/>
              </a:rPr>
              <a:t>Key Pages Created:</a:t>
            </a:r>
            <a:endParaRPr lang="en-US" sz="1400" dirty="0"/>
          </a:p>
        </p:txBody>
      </p:sp>
      <p:sp>
        <p:nvSpPr>
          <p:cNvPr id="7" name="Text 4"/>
          <p:cNvSpPr/>
          <p:nvPr/>
        </p:nvSpPr>
        <p:spPr>
          <a:xfrm>
            <a:off x="457200" y="4480560"/>
            <a:ext cx="10972800" cy="365760"/>
          </a:xfrm>
          <a:prstGeom prst="rect">
            <a:avLst/>
          </a:prstGeom>
          <a:noFill/>
          <a:ln/>
        </p:spPr>
        <p:txBody>
          <a:bodyPr wrap="square" rtlCol="0" anchor="ctr"/>
          <a:lstStyle/>
          <a:p>
            <a:pPr indent="0" marL="0">
              <a:buNone/>
            </a:pPr>
            <a:r>
              <a:rPr lang="en-US" sz="1300" dirty="0">
                <a:solidFill>
                  <a:srgbClr val="0F3460"/>
                </a:solidFill>
                <a:latin typeface="Arial" pitchFamily="34" charset="0"/>
                <a:ea typeface="Arial" pitchFamily="34" charset="-122"/>
                <a:cs typeface="Arial" pitchFamily="34" charset="-120"/>
              </a:rPr>
              <a:t>Mammoth Lakes Real Estate Market Report  |  Mammoth Lakes Homes for Sale (Hub Page)  |  June Lake Real Estate Guide  |  Mammoth Lakes Condo Buyer's Guide</a:t>
            </a:r>
            <a:endParaRPr lang="en-US" sz="1300" dirty="0"/>
          </a:p>
        </p:txBody>
      </p:sp>
      <p:sp>
        <p:nvSpPr>
          <p:cNvPr id="8" name="Text 5"/>
          <p:cNvSpPr/>
          <p:nvPr/>
        </p:nvSpPr>
        <p:spPr>
          <a:xfrm>
            <a:off x="457200" y="5029200"/>
            <a:ext cx="5486400" cy="365760"/>
          </a:xfrm>
          <a:prstGeom prst="rect">
            <a:avLst/>
          </a:prstGeom>
          <a:noFill/>
          <a:ln/>
        </p:spPr>
        <p:txBody>
          <a:bodyPr wrap="square" rtlCol="0" anchor="ctr"/>
          <a:lstStyle/>
          <a:p>
            <a:pPr indent="0" marL="0">
              <a:buNone/>
            </a:pPr>
            <a:r>
              <a:rPr lang="en-US" sz="1400" b="1" dirty="0">
                <a:solidFill>
                  <a:srgbClr val="1A1A2E"/>
                </a:solidFill>
                <a:latin typeface="Arial" pitchFamily="34" charset="0"/>
                <a:ea typeface="Arial" pitchFamily="34" charset="-122"/>
                <a:cs typeface="Arial" pitchFamily="34" charset="-120"/>
              </a:rPr>
              <a:t>Blog Posts Created:</a:t>
            </a:r>
            <a:endParaRPr lang="en-US" sz="1400" dirty="0"/>
          </a:p>
        </p:txBody>
      </p:sp>
      <p:sp>
        <p:nvSpPr>
          <p:cNvPr id="9" name="Text 6"/>
          <p:cNvSpPr/>
          <p:nvPr/>
        </p:nvSpPr>
        <p:spPr>
          <a:xfrm>
            <a:off x="457200" y="5394960"/>
            <a:ext cx="10972800" cy="365760"/>
          </a:xfrm>
          <a:prstGeom prst="rect">
            <a:avLst/>
          </a:prstGeom>
          <a:noFill/>
          <a:ln/>
        </p:spPr>
        <p:txBody>
          <a:bodyPr wrap="square" rtlCol="0" anchor="ctr"/>
          <a:lstStyle/>
          <a:p>
            <a:pPr indent="0" marL="0">
              <a:buNone/>
            </a:pPr>
            <a:r>
              <a:rPr lang="en-US" sz="1300" dirty="0">
                <a:solidFill>
                  <a:srgbClr val="0F3460"/>
                </a:solidFill>
                <a:latin typeface="Arial" pitchFamily="34" charset="0"/>
                <a:ea typeface="Arial" pitchFamily="34" charset="-122"/>
                <a:cs typeface="Arial" pitchFamily="34" charset="-120"/>
              </a:rPr>
              <a:t>Best Ski-In/Ski-Out Properties in Mammoth Lakes (2026)  |  Is Mammoth Lakes a Good Investment? Vacation Rental Income &amp; ROI  |  Moving to Mammoth Lakes: The Complete Relocation Guide  |  Mammoth Lakes Short-Term Rental Rules: What Investors Need to Know</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Medium-Term Roadmap: Month 2-4</a:t>
            </a:r>
            <a:endParaRPr lang="en-US" sz="2800" dirty="0"/>
          </a:p>
        </p:txBody>
      </p:sp>
      <p:sp>
        <p:nvSpPr>
          <p:cNvPr id="4" name="Shape 2"/>
          <p:cNvSpPr/>
          <p:nvPr/>
        </p:nvSpPr>
        <p:spPr>
          <a:xfrm>
            <a:off x="457200" y="1280160"/>
            <a:ext cx="182880" cy="182880"/>
          </a:xfrm>
          <a:prstGeom prst="rect">
            <a:avLst>
              <a:gd name="adj" fmla="val 10000"/>
            </a:avLst>
          </a:prstGeom>
          <a:solidFill>
            <a:srgbClr val="0F3460"/>
          </a:solidFill>
          <a:ln/>
        </p:spPr>
      </p:sp>
      <p:sp>
        <p:nvSpPr>
          <p:cNvPr id="5" name="Text 3"/>
          <p:cNvSpPr/>
          <p:nvPr/>
        </p:nvSpPr>
        <p:spPr>
          <a:xfrm>
            <a:off x="822960" y="123444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Mammoth Lakes Homes Hub Page</a:t>
            </a:r>
            <a:endParaRPr lang="en-US" sz="1300" dirty="0"/>
          </a:p>
        </p:txBody>
      </p:sp>
      <p:sp>
        <p:nvSpPr>
          <p:cNvPr id="6" name="Text 4"/>
          <p:cNvSpPr/>
          <p:nvPr/>
        </p:nvSpPr>
        <p:spPr>
          <a:xfrm>
            <a:off x="3931920" y="123444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Comprehensive guide targeting 'mammoth lakes homes for sale' (1,600/mo) with neighborhood breakdowns, price data, and IDX integration</a:t>
            </a:r>
            <a:endParaRPr lang="en-US" sz="1200" dirty="0"/>
          </a:p>
        </p:txBody>
      </p:sp>
      <p:sp>
        <p:nvSpPr>
          <p:cNvPr id="7" name="Shape 5"/>
          <p:cNvSpPr/>
          <p:nvPr/>
        </p:nvSpPr>
        <p:spPr>
          <a:xfrm>
            <a:off x="457200" y="1874520"/>
            <a:ext cx="182880" cy="182880"/>
          </a:xfrm>
          <a:prstGeom prst="rect">
            <a:avLst>
              <a:gd name="adj" fmla="val 10000"/>
            </a:avLst>
          </a:prstGeom>
          <a:solidFill>
            <a:srgbClr val="0F3460"/>
          </a:solidFill>
          <a:ln/>
        </p:spPr>
      </p:sp>
      <p:sp>
        <p:nvSpPr>
          <p:cNvPr id="8" name="Text 6"/>
          <p:cNvSpPr/>
          <p:nvPr/>
        </p:nvSpPr>
        <p:spPr>
          <a:xfrm>
            <a:off x="822960" y="182880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Condo Complex Pages (10+)</a:t>
            </a:r>
            <a:endParaRPr lang="en-US" sz="1300" dirty="0"/>
          </a:p>
        </p:txBody>
      </p:sp>
      <p:sp>
        <p:nvSpPr>
          <p:cNvPr id="9" name="Text 7"/>
          <p:cNvSpPr/>
          <p:nvPr/>
        </p:nvSpPr>
        <p:spPr>
          <a:xfrm>
            <a:off x="3931920" y="182880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Dedicated pages for Chamonix (210/mo), Mountainback (320/mo), Village condos (590/mo), and other complexes with photos, amenities, and active listings</a:t>
            </a:r>
            <a:endParaRPr lang="en-US" sz="1200" dirty="0"/>
          </a:p>
        </p:txBody>
      </p:sp>
      <p:sp>
        <p:nvSpPr>
          <p:cNvPr id="10" name="Shape 8"/>
          <p:cNvSpPr/>
          <p:nvPr/>
        </p:nvSpPr>
        <p:spPr>
          <a:xfrm>
            <a:off x="457200" y="2468880"/>
            <a:ext cx="182880" cy="182880"/>
          </a:xfrm>
          <a:prstGeom prst="rect">
            <a:avLst>
              <a:gd name="adj" fmla="val 10000"/>
            </a:avLst>
          </a:prstGeom>
          <a:solidFill>
            <a:srgbClr val="0F3460"/>
          </a:solidFill>
          <a:ln/>
        </p:spPr>
      </p:sp>
      <p:sp>
        <p:nvSpPr>
          <p:cNvPr id="11" name="Text 9"/>
          <p:cNvSpPr/>
          <p:nvPr/>
        </p:nvSpPr>
        <p:spPr>
          <a:xfrm>
            <a:off x="822960" y="242316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Ski-In/Ski-Out Landing Page</a:t>
            </a:r>
            <a:endParaRPr lang="en-US" sz="1300" dirty="0"/>
          </a:p>
        </p:txBody>
      </p:sp>
      <p:sp>
        <p:nvSpPr>
          <p:cNvPr id="12" name="Text 10"/>
          <p:cNvSpPr/>
          <p:nvPr/>
        </p:nvSpPr>
        <p:spPr>
          <a:xfrm>
            <a:off x="3931920" y="242316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Targets 'mammoth mountain homes for sale' (1,600/mo) following Resort Realty and Snowcreek's proven model</a:t>
            </a:r>
            <a:endParaRPr lang="en-US" sz="1200" dirty="0"/>
          </a:p>
        </p:txBody>
      </p:sp>
      <p:sp>
        <p:nvSpPr>
          <p:cNvPr id="13" name="Shape 11"/>
          <p:cNvSpPr/>
          <p:nvPr/>
        </p:nvSpPr>
        <p:spPr>
          <a:xfrm>
            <a:off x="457200" y="3063240"/>
            <a:ext cx="182880" cy="182880"/>
          </a:xfrm>
          <a:prstGeom prst="rect">
            <a:avLst>
              <a:gd name="adj" fmla="val 10000"/>
            </a:avLst>
          </a:prstGeom>
          <a:solidFill>
            <a:srgbClr val="0F3460"/>
          </a:solidFill>
          <a:ln/>
        </p:spPr>
      </p:sp>
      <p:sp>
        <p:nvSpPr>
          <p:cNvPr id="14" name="Text 12"/>
          <p:cNvSpPr/>
          <p:nvPr/>
        </p:nvSpPr>
        <p:spPr>
          <a:xfrm>
            <a:off x="822960" y="301752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Vacation Rental Investment Guide</a:t>
            </a:r>
            <a:endParaRPr lang="en-US" sz="1300" dirty="0"/>
          </a:p>
        </p:txBody>
      </p:sp>
      <p:sp>
        <p:nvSpPr>
          <p:cNvPr id="15" name="Text 13"/>
          <p:cNvSpPr/>
          <p:nvPr/>
        </p:nvSpPr>
        <p:spPr>
          <a:xfrm>
            <a:off x="3931920" y="301752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Targets 'mammoth lakes vacation homes' (1,300/mo, $6.47 CPC) and Airbnb/rental management queries</a:t>
            </a:r>
            <a:endParaRPr lang="en-US" sz="1200" dirty="0"/>
          </a:p>
        </p:txBody>
      </p:sp>
      <p:sp>
        <p:nvSpPr>
          <p:cNvPr id="16" name="Shape 14"/>
          <p:cNvSpPr/>
          <p:nvPr/>
        </p:nvSpPr>
        <p:spPr>
          <a:xfrm>
            <a:off x="457200" y="3657600"/>
            <a:ext cx="182880" cy="182880"/>
          </a:xfrm>
          <a:prstGeom prst="rect">
            <a:avLst>
              <a:gd name="adj" fmla="val 10000"/>
            </a:avLst>
          </a:prstGeom>
          <a:solidFill>
            <a:srgbClr val="0F3460"/>
          </a:solidFill>
          <a:ln/>
        </p:spPr>
      </p:sp>
      <p:sp>
        <p:nvSpPr>
          <p:cNvPr id="17" name="Text 15"/>
          <p:cNvSpPr/>
          <p:nvPr/>
        </p:nvSpPr>
        <p:spPr>
          <a:xfrm>
            <a:off x="822960" y="361188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June Lake Real Estate Page</a:t>
            </a:r>
            <a:endParaRPr lang="en-US" sz="1300" dirty="0"/>
          </a:p>
        </p:txBody>
      </p:sp>
      <p:sp>
        <p:nvSpPr>
          <p:cNvPr id="18" name="Text 16"/>
          <p:cNvSpPr/>
          <p:nvPr/>
        </p:nvSpPr>
        <p:spPr>
          <a:xfrm>
            <a:off x="3931920" y="361188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Dedicated landing page to compete with RE/MAX (#9) and Resort Realty (#8) for 'june lake homes for sale' (590/mo)</a:t>
            </a:r>
            <a:endParaRPr lang="en-US" sz="1200" dirty="0"/>
          </a:p>
        </p:txBody>
      </p:sp>
      <p:sp>
        <p:nvSpPr>
          <p:cNvPr id="19" name="Shape 17"/>
          <p:cNvSpPr/>
          <p:nvPr/>
        </p:nvSpPr>
        <p:spPr>
          <a:xfrm>
            <a:off x="457200" y="4251960"/>
            <a:ext cx="182880" cy="182880"/>
          </a:xfrm>
          <a:prstGeom prst="rect">
            <a:avLst>
              <a:gd name="adj" fmla="val 10000"/>
            </a:avLst>
          </a:prstGeom>
          <a:solidFill>
            <a:srgbClr val="0F3460"/>
          </a:solidFill>
          <a:ln/>
        </p:spPr>
      </p:sp>
      <p:sp>
        <p:nvSpPr>
          <p:cNvPr id="20" name="Text 18"/>
          <p:cNvSpPr/>
          <p:nvPr/>
        </p:nvSpPr>
        <p:spPr>
          <a:xfrm>
            <a:off x="822960" y="420624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FAQ Schema on All Key Pages</a:t>
            </a:r>
            <a:endParaRPr lang="en-US" sz="1300" dirty="0"/>
          </a:p>
        </p:txBody>
      </p:sp>
      <p:sp>
        <p:nvSpPr>
          <p:cNvPr id="21" name="Text 19"/>
          <p:cNvSpPr/>
          <p:nvPr/>
        </p:nvSpPr>
        <p:spPr>
          <a:xfrm>
            <a:off x="3931920" y="420624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No local competitor uses FAQ schema; first-mover advantage for rich snippets and AI citations</a:t>
            </a:r>
            <a:endParaRPr lang="en-US" sz="1200" dirty="0"/>
          </a:p>
        </p:txBody>
      </p:sp>
      <p:sp>
        <p:nvSpPr>
          <p:cNvPr id="22" name="Shape 20"/>
          <p:cNvSpPr/>
          <p:nvPr/>
        </p:nvSpPr>
        <p:spPr>
          <a:xfrm>
            <a:off x="457200" y="4846320"/>
            <a:ext cx="182880" cy="182880"/>
          </a:xfrm>
          <a:prstGeom prst="rect">
            <a:avLst>
              <a:gd name="adj" fmla="val 10000"/>
            </a:avLst>
          </a:prstGeom>
          <a:solidFill>
            <a:srgbClr val="0F3460"/>
          </a:solidFill>
          <a:ln/>
        </p:spPr>
      </p:sp>
      <p:sp>
        <p:nvSpPr>
          <p:cNvPr id="23" name="Text 21"/>
          <p:cNvSpPr/>
          <p:nvPr/>
        </p:nvSpPr>
        <p:spPr>
          <a:xfrm>
            <a:off x="822960" y="480060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Internal Linking Overhaul</a:t>
            </a:r>
            <a:endParaRPr lang="en-US" sz="1300" dirty="0"/>
          </a:p>
        </p:txBody>
      </p:sp>
      <p:sp>
        <p:nvSpPr>
          <p:cNvPr id="24" name="Text 22"/>
          <p:cNvSpPr/>
          <p:nvPr/>
        </p:nvSpPr>
        <p:spPr>
          <a:xfrm>
            <a:off x="3931920" y="480060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Most IDX pages have 0 internal links; homepage has only 18; build topic clusters with cross-linking</a:t>
            </a:r>
            <a:endParaRPr lang="en-US" sz="1200" dirty="0"/>
          </a:p>
        </p:txBody>
      </p:sp>
      <p:sp>
        <p:nvSpPr>
          <p:cNvPr id="25" name="Shape 23"/>
          <p:cNvSpPr/>
          <p:nvPr/>
        </p:nvSpPr>
        <p:spPr>
          <a:xfrm>
            <a:off x="457200" y="5440680"/>
            <a:ext cx="182880" cy="182880"/>
          </a:xfrm>
          <a:prstGeom prst="rect">
            <a:avLst>
              <a:gd name="adj" fmla="val 10000"/>
            </a:avLst>
          </a:prstGeom>
          <a:solidFill>
            <a:srgbClr val="0F3460"/>
          </a:solidFill>
          <a:ln/>
        </p:spPr>
      </p:sp>
      <p:sp>
        <p:nvSpPr>
          <p:cNvPr id="26" name="Text 24"/>
          <p:cNvSpPr/>
          <p:nvPr/>
        </p:nvSpPr>
        <p:spPr>
          <a:xfrm>
            <a:off x="822960" y="5394960"/>
            <a:ext cx="3017520" cy="365760"/>
          </a:xfrm>
          <a:prstGeom prst="rect">
            <a:avLst/>
          </a:prstGeom>
          <a:noFill/>
          <a:ln/>
        </p:spPr>
        <p:txBody>
          <a:bodyPr wrap="square" rtlCol="0" anchor="ctr"/>
          <a:lstStyle/>
          <a:p>
            <a:pPr indent="0" marL="0">
              <a:buNone/>
            </a:pPr>
            <a:r>
              <a:rPr lang="en-US" sz="1300" b="1" dirty="0">
                <a:solidFill>
                  <a:srgbClr val="1A1A2E"/>
                </a:solidFill>
                <a:latin typeface="Arial" pitchFamily="34" charset="0"/>
                <a:ea typeface="Arial" pitchFamily="34" charset="-122"/>
                <a:cs typeface="Arial" pitchFamily="34" charset="-120"/>
              </a:rPr>
              <a:t>Sitemap Optimization</a:t>
            </a:r>
            <a:endParaRPr lang="en-US" sz="1300" dirty="0"/>
          </a:p>
        </p:txBody>
      </p:sp>
      <p:sp>
        <p:nvSpPr>
          <p:cNvPr id="27" name="Text 25"/>
          <p:cNvSpPr/>
          <p:nvPr/>
        </p:nvSpPr>
        <p:spPr>
          <a:xfrm>
            <a:off x="3931920" y="5394960"/>
            <a:ext cx="77724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Reduce from 2,984 URLs to ~200-300 quality pages; noindex thin filter pages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Long-Term Strategy: Month 4+</a:t>
            </a:r>
            <a:endParaRPr lang="en-US" sz="2800" dirty="0"/>
          </a:p>
        </p:txBody>
      </p:sp>
      <p:sp>
        <p:nvSpPr>
          <p:cNvPr id="4" name="Shape 2"/>
          <p:cNvSpPr/>
          <p:nvPr/>
        </p:nvSpPr>
        <p:spPr>
          <a:xfrm>
            <a:off x="365760" y="1280160"/>
            <a:ext cx="2743200" cy="4937760"/>
          </a:xfrm>
          <a:prstGeom prst="rect">
            <a:avLst>
              <a:gd name="adj" fmla="val 3333"/>
            </a:avLst>
          </a:prstGeom>
          <a:solidFill>
            <a:srgbClr val="F5F5F5"/>
          </a:solidFill>
          <a:ln/>
        </p:spPr>
      </p:sp>
      <p:sp>
        <p:nvSpPr>
          <p:cNvPr id="5" name="Text 3"/>
          <p:cNvSpPr/>
          <p:nvPr/>
        </p:nvSpPr>
        <p:spPr>
          <a:xfrm>
            <a:off x="36576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Content Authority</a:t>
            </a:r>
            <a:endParaRPr lang="en-US" sz="1500" dirty="0"/>
          </a:p>
        </p:txBody>
      </p:sp>
      <p:sp>
        <p:nvSpPr>
          <p:cNvPr id="6" name="Shape 4"/>
          <p:cNvSpPr/>
          <p:nvPr/>
        </p:nvSpPr>
        <p:spPr>
          <a:xfrm>
            <a:off x="640080" y="1920240"/>
            <a:ext cx="2194560" cy="18288"/>
          </a:xfrm>
          <a:prstGeom prst="rect">
            <a:avLst/>
          </a:prstGeom>
          <a:solidFill>
            <a:srgbClr val="E94560"/>
          </a:solidFill>
          <a:ln/>
        </p:spPr>
      </p:sp>
      <p:sp>
        <p:nvSpPr>
          <p:cNvPr id="7" name="Text 5"/>
          <p:cNvSpPr/>
          <p:nvPr/>
        </p:nvSpPr>
        <p:spPr>
          <a:xfrm>
            <a:off x="50292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Monthly market reports with pricing data</a:t>
            </a:r>
            <a:endParaRPr lang="en-US" sz="1100" dirty="0"/>
          </a:p>
        </p:txBody>
      </p:sp>
      <p:sp>
        <p:nvSpPr>
          <p:cNvPr id="8" name="Text 6"/>
          <p:cNvSpPr/>
          <p:nvPr/>
        </p:nvSpPr>
        <p:spPr>
          <a:xfrm>
            <a:off x="50292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Build to 100+ quality content pages</a:t>
            </a:r>
            <a:endParaRPr lang="en-US" sz="1100" dirty="0"/>
          </a:p>
        </p:txBody>
      </p:sp>
      <p:sp>
        <p:nvSpPr>
          <p:cNvPr id="9" name="Text 7"/>
          <p:cNvSpPr/>
          <p:nvPr/>
        </p:nvSpPr>
        <p:spPr>
          <a:xfrm>
            <a:off x="50292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Seasonal buyer guides (ski season, summer)</a:t>
            </a:r>
            <a:endParaRPr lang="en-US" sz="1100" dirty="0"/>
          </a:p>
        </p:txBody>
      </p:sp>
      <p:sp>
        <p:nvSpPr>
          <p:cNvPr id="10" name="Text 8"/>
          <p:cNvSpPr/>
          <p:nvPr/>
        </p:nvSpPr>
        <p:spPr>
          <a:xfrm>
            <a:off x="50292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Neighborhood comparison content</a:t>
            </a:r>
            <a:endParaRPr lang="en-US" sz="1100" dirty="0"/>
          </a:p>
        </p:txBody>
      </p:sp>
      <p:sp>
        <p:nvSpPr>
          <p:cNvPr id="11" name="Text 9"/>
          <p:cNvSpPr/>
          <p:nvPr/>
        </p:nvSpPr>
        <p:spPr>
          <a:xfrm>
            <a:off x="50292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Eastern Sierra regional guides (Mono County, Sierra Nevada)</a:t>
            </a:r>
            <a:endParaRPr lang="en-US" sz="1100" dirty="0"/>
          </a:p>
        </p:txBody>
      </p:sp>
      <p:sp>
        <p:nvSpPr>
          <p:cNvPr id="12" name="Shape 10"/>
          <p:cNvSpPr/>
          <p:nvPr/>
        </p:nvSpPr>
        <p:spPr>
          <a:xfrm>
            <a:off x="3246120" y="1280160"/>
            <a:ext cx="2743200" cy="4937760"/>
          </a:xfrm>
          <a:prstGeom prst="rect">
            <a:avLst>
              <a:gd name="adj" fmla="val 3333"/>
            </a:avLst>
          </a:prstGeom>
          <a:solidFill>
            <a:srgbClr val="F5F5F5"/>
          </a:solidFill>
          <a:ln/>
        </p:spPr>
      </p:sp>
      <p:sp>
        <p:nvSpPr>
          <p:cNvPr id="13" name="Text 11"/>
          <p:cNvSpPr/>
          <p:nvPr/>
        </p:nvSpPr>
        <p:spPr>
          <a:xfrm>
            <a:off x="324612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Video &amp; Media</a:t>
            </a:r>
            <a:endParaRPr lang="en-US" sz="1500" dirty="0"/>
          </a:p>
        </p:txBody>
      </p:sp>
      <p:sp>
        <p:nvSpPr>
          <p:cNvPr id="14" name="Shape 12"/>
          <p:cNvSpPr/>
          <p:nvPr/>
        </p:nvSpPr>
        <p:spPr>
          <a:xfrm>
            <a:off x="3520440" y="1920240"/>
            <a:ext cx="2194560" cy="18288"/>
          </a:xfrm>
          <a:prstGeom prst="rect">
            <a:avLst/>
          </a:prstGeom>
          <a:solidFill>
            <a:srgbClr val="E94560"/>
          </a:solidFill>
          <a:ln/>
        </p:spPr>
      </p:sp>
      <p:sp>
        <p:nvSpPr>
          <p:cNvPr id="15" name="Text 13"/>
          <p:cNvSpPr/>
          <p:nvPr/>
        </p:nvSpPr>
        <p:spPr>
          <a:xfrm>
            <a:off x="338328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Monthly video market updates</a:t>
            </a:r>
            <a:endParaRPr lang="en-US" sz="1100" dirty="0"/>
          </a:p>
        </p:txBody>
      </p:sp>
      <p:sp>
        <p:nvSpPr>
          <p:cNvPr id="16" name="Text 14"/>
          <p:cNvSpPr/>
          <p:nvPr/>
        </p:nvSpPr>
        <p:spPr>
          <a:xfrm>
            <a:off x="338328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Virtual property tours</a:t>
            </a:r>
            <a:endParaRPr lang="en-US" sz="1100" dirty="0"/>
          </a:p>
        </p:txBody>
      </p:sp>
      <p:sp>
        <p:nvSpPr>
          <p:cNvPr id="17" name="Text 15"/>
          <p:cNvSpPr/>
          <p:nvPr/>
        </p:nvSpPr>
        <p:spPr>
          <a:xfrm>
            <a:off x="338328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Neighborhood walkthrough videos</a:t>
            </a:r>
            <a:endParaRPr lang="en-US" sz="1100" dirty="0"/>
          </a:p>
        </p:txBody>
      </p:sp>
      <p:sp>
        <p:nvSpPr>
          <p:cNvPr id="18" name="Text 16"/>
          <p:cNvSpPr/>
          <p:nvPr/>
        </p:nvSpPr>
        <p:spPr>
          <a:xfrm>
            <a:off x="338328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Agent introduction/expertise video</a:t>
            </a:r>
            <a:endParaRPr lang="en-US" sz="1100" dirty="0"/>
          </a:p>
        </p:txBody>
      </p:sp>
      <p:sp>
        <p:nvSpPr>
          <p:cNvPr id="19" name="Text 17"/>
          <p:cNvSpPr/>
          <p:nvPr/>
        </p:nvSpPr>
        <p:spPr>
          <a:xfrm>
            <a:off x="338328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YouTube channel for Mammoth Lakes real estate</a:t>
            </a:r>
            <a:endParaRPr lang="en-US" sz="1100" dirty="0"/>
          </a:p>
        </p:txBody>
      </p:sp>
      <p:sp>
        <p:nvSpPr>
          <p:cNvPr id="20" name="Shape 18"/>
          <p:cNvSpPr/>
          <p:nvPr/>
        </p:nvSpPr>
        <p:spPr>
          <a:xfrm>
            <a:off x="6126480" y="1280160"/>
            <a:ext cx="2743200" cy="4937760"/>
          </a:xfrm>
          <a:prstGeom prst="rect">
            <a:avLst>
              <a:gd name="adj" fmla="val 3333"/>
            </a:avLst>
          </a:prstGeom>
          <a:solidFill>
            <a:srgbClr val="F5F5F5"/>
          </a:solidFill>
          <a:ln/>
        </p:spPr>
      </p:sp>
      <p:sp>
        <p:nvSpPr>
          <p:cNvPr id="21" name="Text 19"/>
          <p:cNvSpPr/>
          <p:nvPr/>
        </p:nvSpPr>
        <p:spPr>
          <a:xfrm>
            <a:off x="612648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Lead Generation</a:t>
            </a:r>
            <a:endParaRPr lang="en-US" sz="1500" dirty="0"/>
          </a:p>
        </p:txBody>
      </p:sp>
      <p:sp>
        <p:nvSpPr>
          <p:cNvPr id="22" name="Shape 20"/>
          <p:cNvSpPr/>
          <p:nvPr/>
        </p:nvSpPr>
        <p:spPr>
          <a:xfrm>
            <a:off x="6400800" y="1920240"/>
            <a:ext cx="2194560" cy="18288"/>
          </a:xfrm>
          <a:prstGeom prst="rect">
            <a:avLst/>
          </a:prstGeom>
          <a:solidFill>
            <a:srgbClr val="E94560"/>
          </a:solidFill>
          <a:ln/>
        </p:spPr>
      </p:sp>
      <p:sp>
        <p:nvSpPr>
          <p:cNvPr id="23" name="Text 21"/>
          <p:cNvSpPr/>
          <p:nvPr/>
        </p:nvSpPr>
        <p:spPr>
          <a:xfrm>
            <a:off x="626364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Email newsletter with market updates</a:t>
            </a:r>
            <a:endParaRPr lang="en-US" sz="1100" dirty="0"/>
          </a:p>
        </p:txBody>
      </p:sp>
      <p:sp>
        <p:nvSpPr>
          <p:cNvPr id="24" name="Text 22"/>
          <p:cNvSpPr/>
          <p:nvPr/>
        </p:nvSpPr>
        <p:spPr>
          <a:xfrm>
            <a:off x="626364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Gated market report PDFs</a:t>
            </a:r>
            <a:endParaRPr lang="en-US" sz="1100" dirty="0"/>
          </a:p>
        </p:txBody>
      </p:sp>
      <p:sp>
        <p:nvSpPr>
          <p:cNvPr id="25" name="Text 23"/>
          <p:cNvSpPr/>
          <p:nvPr/>
        </p:nvSpPr>
        <p:spPr>
          <a:xfrm>
            <a:off x="626364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Property alert sign-ups on every page</a:t>
            </a:r>
            <a:endParaRPr lang="en-US" sz="1100" dirty="0"/>
          </a:p>
        </p:txBody>
      </p:sp>
      <p:sp>
        <p:nvSpPr>
          <p:cNvPr id="26" name="Text 24"/>
          <p:cNvSpPr/>
          <p:nvPr/>
        </p:nvSpPr>
        <p:spPr>
          <a:xfrm>
            <a:off x="626364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Chat widget for instant engagement</a:t>
            </a:r>
            <a:endParaRPr lang="en-US" sz="1100" dirty="0"/>
          </a:p>
        </p:txBody>
      </p:sp>
      <p:sp>
        <p:nvSpPr>
          <p:cNvPr id="27" name="Text 25"/>
          <p:cNvSpPr/>
          <p:nvPr/>
        </p:nvSpPr>
        <p:spPr>
          <a:xfrm>
            <a:off x="626364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Retargeting pixel for paid campaigns</a:t>
            </a:r>
            <a:endParaRPr lang="en-US" sz="1100" dirty="0"/>
          </a:p>
        </p:txBody>
      </p:sp>
      <p:sp>
        <p:nvSpPr>
          <p:cNvPr id="28" name="Shape 26"/>
          <p:cNvSpPr/>
          <p:nvPr/>
        </p:nvSpPr>
        <p:spPr>
          <a:xfrm>
            <a:off x="9006840" y="1280160"/>
            <a:ext cx="2743200" cy="4937760"/>
          </a:xfrm>
          <a:prstGeom prst="rect">
            <a:avLst>
              <a:gd name="adj" fmla="val 3333"/>
            </a:avLst>
          </a:prstGeom>
          <a:solidFill>
            <a:srgbClr val="F5F5F5"/>
          </a:solidFill>
          <a:ln/>
        </p:spPr>
      </p:sp>
      <p:sp>
        <p:nvSpPr>
          <p:cNvPr id="29" name="Text 27"/>
          <p:cNvSpPr/>
          <p:nvPr/>
        </p:nvSpPr>
        <p:spPr>
          <a:xfrm>
            <a:off x="9006840" y="1371600"/>
            <a:ext cx="2743200" cy="548640"/>
          </a:xfrm>
          <a:prstGeom prst="rect">
            <a:avLst/>
          </a:prstGeom>
          <a:noFill/>
          <a:ln/>
        </p:spPr>
        <p:txBody>
          <a:bodyPr wrap="square" rtlCol="0" anchor="ctr"/>
          <a:lstStyle/>
          <a:p>
            <a:pPr algn="ctr" indent="0" marL="0">
              <a:buNone/>
            </a:pPr>
            <a:r>
              <a:rPr lang="en-US" sz="1500" b="1" dirty="0">
                <a:solidFill>
                  <a:srgbClr val="1A1A2E"/>
                </a:solidFill>
                <a:latin typeface="Arial" pitchFamily="34" charset="0"/>
                <a:ea typeface="Arial" pitchFamily="34" charset="-122"/>
                <a:cs typeface="Arial" pitchFamily="34" charset="-120"/>
              </a:rPr>
              <a:t>Local &amp; AI SEO</a:t>
            </a:r>
            <a:endParaRPr lang="en-US" sz="1500" dirty="0"/>
          </a:p>
        </p:txBody>
      </p:sp>
      <p:sp>
        <p:nvSpPr>
          <p:cNvPr id="30" name="Shape 28"/>
          <p:cNvSpPr/>
          <p:nvPr/>
        </p:nvSpPr>
        <p:spPr>
          <a:xfrm>
            <a:off x="9281160" y="1920240"/>
            <a:ext cx="2194560" cy="18288"/>
          </a:xfrm>
          <a:prstGeom prst="rect">
            <a:avLst/>
          </a:prstGeom>
          <a:solidFill>
            <a:srgbClr val="E94560"/>
          </a:solidFill>
          <a:ln/>
        </p:spPr>
      </p:sp>
      <p:sp>
        <p:nvSpPr>
          <p:cNvPr id="31" name="Text 29"/>
          <p:cNvSpPr/>
          <p:nvPr/>
        </p:nvSpPr>
        <p:spPr>
          <a:xfrm>
            <a:off x="9144000" y="210312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Google Business Profile optimization</a:t>
            </a:r>
            <a:endParaRPr lang="en-US" sz="1100" dirty="0"/>
          </a:p>
        </p:txBody>
      </p:sp>
      <p:sp>
        <p:nvSpPr>
          <p:cNvPr id="32" name="Text 30"/>
          <p:cNvSpPr/>
          <p:nvPr/>
        </p:nvSpPr>
        <p:spPr>
          <a:xfrm>
            <a:off x="9144000" y="269748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Local directory citations (Chamber of Commerce, Yelp)</a:t>
            </a:r>
            <a:endParaRPr lang="en-US" sz="1100" dirty="0"/>
          </a:p>
        </p:txBody>
      </p:sp>
      <p:sp>
        <p:nvSpPr>
          <p:cNvPr id="33" name="Text 31"/>
          <p:cNvSpPr/>
          <p:nvPr/>
        </p:nvSpPr>
        <p:spPr>
          <a:xfrm>
            <a:off x="9144000" y="329184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Structured data for AI/LLM citations</a:t>
            </a:r>
            <a:endParaRPr lang="en-US" sz="1100" dirty="0"/>
          </a:p>
        </p:txBody>
      </p:sp>
      <p:sp>
        <p:nvSpPr>
          <p:cNvPr id="34" name="Text 32"/>
          <p:cNvSpPr/>
          <p:nvPr/>
        </p:nvSpPr>
        <p:spPr>
          <a:xfrm>
            <a:off x="9144000" y="388620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ChatGPT/Perplexity optimization</a:t>
            </a:r>
            <a:endParaRPr lang="en-US" sz="1100" dirty="0"/>
          </a:p>
        </p:txBody>
      </p:sp>
      <p:sp>
        <p:nvSpPr>
          <p:cNvPr id="35" name="Text 33"/>
          <p:cNvSpPr/>
          <p:nvPr/>
        </p:nvSpPr>
        <p:spPr>
          <a:xfrm>
            <a:off x="9144000" y="4480560"/>
            <a:ext cx="2468880" cy="457200"/>
          </a:xfrm>
          <a:prstGeom prst="rect">
            <a:avLst/>
          </a:prstGeom>
          <a:noFill/>
          <a:ln/>
        </p:spPr>
        <p:txBody>
          <a:bodyPr wrap="square" rtlCol="0" anchor="ctr"/>
          <a:lstStyle/>
          <a:p>
            <a:r>
              <a:rPr lang="en-US" sz="1100" dirty="0">
                <a:solidFill>
                  <a:srgbClr val="666666"/>
                </a:solidFill>
                <a:latin typeface="Arial" pitchFamily="34" charset="0"/>
                <a:ea typeface="Arial" pitchFamily="34" charset="-122"/>
                <a:cs typeface="Arial" pitchFamily="34" charset="-120"/>
              </a:rPr>
              <a:t>  Review generation strategy</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1005840"/>
          </a:xfrm>
          <a:prstGeom prst="rect">
            <a:avLst/>
          </a:prstGeom>
          <a:solidFill>
            <a:srgbClr val="1A1A2E"/>
          </a:solidFill>
          <a:ln/>
        </p:spPr>
      </p:sp>
      <p:sp>
        <p:nvSpPr>
          <p:cNvPr id="3" name="Text 1"/>
          <p:cNvSpPr/>
          <p:nvPr/>
        </p:nvSpPr>
        <p:spPr>
          <a:xfrm>
            <a:off x="457200" y="137160"/>
            <a:ext cx="10972800" cy="731520"/>
          </a:xfrm>
          <a:prstGeom prst="rect">
            <a:avLst/>
          </a:prstGeom>
          <a:noFill/>
          <a:ln/>
        </p:spPr>
        <p:txBody>
          <a:bodyPr wrap="square" rtlCol="0" anchor="ctr"/>
          <a:lstStyle/>
          <a:p>
            <a:pPr indent="0" marL="0">
              <a:buNone/>
            </a:pPr>
            <a:r>
              <a:rPr lang="en-US" sz="2800" b="1" dirty="0">
                <a:solidFill>
                  <a:srgbClr val="FFFFFF"/>
                </a:solidFill>
                <a:latin typeface="Arial" pitchFamily="34" charset="0"/>
                <a:ea typeface="Arial" pitchFamily="34" charset="-122"/>
                <a:cs typeface="Arial" pitchFamily="34" charset="-120"/>
              </a:rPr>
              <a:t>The Opportunity</a:t>
            </a:r>
            <a:endParaRPr lang="en-US" sz="2800" dirty="0"/>
          </a:p>
        </p:txBody>
      </p:sp>
      <p:sp>
        <p:nvSpPr>
          <p:cNvPr id="4" name="Text 2"/>
          <p:cNvSpPr/>
          <p:nvPr/>
        </p:nvSpPr>
        <p:spPr>
          <a:xfrm>
            <a:off x="457200" y="1280160"/>
            <a:ext cx="5486400" cy="457200"/>
          </a:xfrm>
          <a:prstGeom prst="rect">
            <a:avLst/>
          </a:prstGeom>
          <a:noFill/>
          <a:ln/>
        </p:spPr>
        <p:txBody>
          <a:bodyPr wrap="square" rtlCol="0" anchor="ctr"/>
          <a:lstStyle/>
          <a:p>
            <a:pPr indent="0" marL="0">
              <a:buNone/>
            </a:pPr>
            <a:r>
              <a:rPr lang="en-US" sz="2000" b="1" dirty="0">
                <a:solidFill>
                  <a:srgbClr val="1A1A2E"/>
                </a:solidFill>
                <a:latin typeface="Arial" pitchFamily="34" charset="0"/>
                <a:ea typeface="Arial" pitchFamily="34" charset="-122"/>
                <a:cs typeface="Arial" pitchFamily="34" charset="-120"/>
              </a:rPr>
              <a:t>Your Competitive Advantages</a:t>
            </a:r>
            <a:endParaRPr lang="en-US" sz="2000" dirty="0"/>
          </a:p>
        </p:txBody>
      </p:sp>
      <p:sp>
        <p:nvSpPr>
          <p:cNvPr id="5" name="Shape 3"/>
          <p:cNvSpPr/>
          <p:nvPr/>
        </p:nvSpPr>
        <p:spPr>
          <a:xfrm>
            <a:off x="457200" y="1965960"/>
            <a:ext cx="274320" cy="274320"/>
          </a:xfrm>
          <a:prstGeom prst="rect">
            <a:avLst>
              <a:gd name="adj" fmla="val 50000"/>
            </a:avLst>
          </a:prstGeom>
          <a:solidFill>
            <a:srgbClr val="27AE60"/>
          </a:solidFill>
          <a:ln/>
        </p:spPr>
      </p:sp>
      <p:sp>
        <p:nvSpPr>
          <p:cNvPr id="6" name="Text 4"/>
          <p:cNvSpPr/>
          <p:nvPr/>
        </p:nvSpPr>
        <p:spPr>
          <a:xfrm>
            <a:off x="1005840" y="192024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#1 for Branded Keyword</a:t>
            </a:r>
            <a:endParaRPr lang="en-US" sz="1500" dirty="0"/>
          </a:p>
        </p:txBody>
      </p:sp>
      <p:sp>
        <p:nvSpPr>
          <p:cNvPr id="7" name="Text 5"/>
          <p:cNvSpPr/>
          <p:nvPr/>
        </p:nvSpPr>
        <p:spPr>
          <a:xfrm>
            <a:off x="4754880" y="192024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Ranks #1 for 'mammoth lakes properties' (720/mo search volume). The brand name IS the keyword -- a powerful advantage few competitors have.</a:t>
            </a:r>
            <a:endParaRPr lang="en-US" sz="1300" dirty="0"/>
          </a:p>
        </p:txBody>
      </p:sp>
      <p:sp>
        <p:nvSpPr>
          <p:cNvPr id="8" name="Shape 6"/>
          <p:cNvSpPr/>
          <p:nvPr/>
        </p:nvSpPr>
        <p:spPr>
          <a:xfrm>
            <a:off x="457200" y="2743200"/>
            <a:ext cx="274320" cy="274320"/>
          </a:xfrm>
          <a:prstGeom prst="rect">
            <a:avLst>
              <a:gd name="adj" fmla="val 50000"/>
            </a:avLst>
          </a:prstGeom>
          <a:solidFill>
            <a:srgbClr val="27AE60"/>
          </a:solidFill>
          <a:ln/>
        </p:spPr>
      </p:sp>
      <p:sp>
        <p:nvSpPr>
          <p:cNvPr id="9" name="Text 7"/>
          <p:cNvSpPr/>
          <p:nvPr/>
        </p:nvSpPr>
        <p:spPr>
          <a:xfrm>
            <a:off x="1005840" y="269748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Strong Direct Traffic Base</a:t>
            </a:r>
            <a:endParaRPr lang="en-US" sz="1500" dirty="0"/>
          </a:p>
        </p:txBody>
      </p:sp>
      <p:sp>
        <p:nvSpPr>
          <p:cNvPr id="10" name="Text 8"/>
          <p:cNvSpPr/>
          <p:nvPr/>
        </p:nvSpPr>
        <p:spPr>
          <a:xfrm>
            <a:off x="4754880" y="269748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11,620 direct sessions shows an established client base and brand recognition in the market. This audience can be converted to repeat organic visitors with email nurturing.</a:t>
            </a:r>
            <a:endParaRPr lang="en-US" sz="1300" dirty="0"/>
          </a:p>
        </p:txBody>
      </p:sp>
      <p:sp>
        <p:nvSpPr>
          <p:cNvPr id="11" name="Shape 9"/>
          <p:cNvSpPr/>
          <p:nvPr/>
        </p:nvSpPr>
        <p:spPr>
          <a:xfrm>
            <a:off x="457200" y="3520440"/>
            <a:ext cx="274320" cy="274320"/>
          </a:xfrm>
          <a:prstGeom prst="rect">
            <a:avLst>
              <a:gd name="adj" fmla="val 50000"/>
            </a:avLst>
          </a:prstGeom>
          <a:solidFill>
            <a:srgbClr val="27AE60"/>
          </a:solidFill>
          <a:ln/>
        </p:spPr>
      </p:sp>
      <p:sp>
        <p:nvSpPr>
          <p:cNvPr id="12" name="Text 10"/>
          <p:cNvSpPr/>
          <p:nvPr/>
        </p:nvSpPr>
        <p:spPr>
          <a:xfrm>
            <a:off x="1005840" y="347472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Sierra Interactive Platform</a:t>
            </a:r>
            <a:endParaRPr lang="en-US" sz="1500" dirty="0"/>
          </a:p>
        </p:txBody>
      </p:sp>
      <p:sp>
        <p:nvSpPr>
          <p:cNvPr id="13" name="Text 11"/>
          <p:cNvSpPr/>
          <p:nvPr/>
        </p:nvSpPr>
        <p:spPr>
          <a:xfrm>
            <a:off x="4754880" y="347472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A capable IDX platform with built-in property search, CRM, and lead capture. Same platform tier as many top competitors -- the technology is not the limiting factor.</a:t>
            </a:r>
            <a:endParaRPr lang="en-US" sz="1300" dirty="0"/>
          </a:p>
        </p:txBody>
      </p:sp>
      <p:sp>
        <p:nvSpPr>
          <p:cNvPr id="14" name="Shape 12"/>
          <p:cNvSpPr/>
          <p:nvPr/>
        </p:nvSpPr>
        <p:spPr>
          <a:xfrm>
            <a:off x="457200" y="4297680"/>
            <a:ext cx="274320" cy="274320"/>
          </a:xfrm>
          <a:prstGeom prst="rect">
            <a:avLst>
              <a:gd name="adj" fmla="val 50000"/>
            </a:avLst>
          </a:prstGeom>
          <a:solidFill>
            <a:srgbClr val="27AE60"/>
          </a:solidFill>
          <a:ln/>
        </p:spPr>
      </p:sp>
      <p:sp>
        <p:nvSpPr>
          <p:cNvPr id="15" name="Text 13"/>
          <p:cNvSpPr/>
          <p:nvPr/>
        </p:nvSpPr>
        <p:spPr>
          <a:xfrm>
            <a:off x="1005840" y="425196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Mobile Users Convert Better</a:t>
            </a:r>
            <a:endParaRPr lang="en-US" sz="1500" dirty="0"/>
          </a:p>
        </p:txBody>
      </p:sp>
      <p:sp>
        <p:nvSpPr>
          <p:cNvPr id="16" name="Text 14"/>
          <p:cNvSpPr/>
          <p:nvPr/>
        </p:nvSpPr>
        <p:spPr>
          <a:xfrm>
            <a:off x="4754880" y="425196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Despite terrible mobile PageSpeed, mobile users generate ALL 12 conversions vs. zero from desktop. Fixing mobile performance could significantly increase conversion rates.</a:t>
            </a:r>
            <a:endParaRPr lang="en-US" sz="1300" dirty="0"/>
          </a:p>
        </p:txBody>
      </p:sp>
      <p:sp>
        <p:nvSpPr>
          <p:cNvPr id="17" name="Shape 15"/>
          <p:cNvSpPr/>
          <p:nvPr/>
        </p:nvSpPr>
        <p:spPr>
          <a:xfrm>
            <a:off x="457200" y="5074920"/>
            <a:ext cx="274320" cy="274320"/>
          </a:xfrm>
          <a:prstGeom prst="rect">
            <a:avLst>
              <a:gd name="adj" fmla="val 50000"/>
            </a:avLst>
          </a:prstGeom>
          <a:solidFill>
            <a:srgbClr val="27AE60"/>
          </a:solidFill>
          <a:ln/>
        </p:spPr>
      </p:sp>
      <p:sp>
        <p:nvSpPr>
          <p:cNvPr id="18" name="Text 16"/>
          <p:cNvSpPr/>
          <p:nvPr/>
        </p:nvSpPr>
        <p:spPr>
          <a:xfrm>
            <a:off x="1005840" y="502920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Content Opportunities Wide Open</a:t>
            </a:r>
            <a:endParaRPr lang="en-US" sz="1500" dirty="0"/>
          </a:p>
        </p:txBody>
      </p:sp>
      <p:sp>
        <p:nvSpPr>
          <p:cNvPr id="19" name="Text 17"/>
          <p:cNvSpPr/>
          <p:nvPr/>
        </p:nvSpPr>
        <p:spPr>
          <a:xfrm>
            <a:off x="4754880" y="502920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No local competitor publishes regular market reports, comprehensive buyer guides, or seasonal content. The first agent to consistently publish data-driven Mammoth Lakes content will own these keywords.</a:t>
            </a:r>
            <a:endParaRPr lang="en-US" sz="1300" dirty="0"/>
          </a:p>
        </p:txBody>
      </p:sp>
      <p:sp>
        <p:nvSpPr>
          <p:cNvPr id="20" name="Shape 18"/>
          <p:cNvSpPr/>
          <p:nvPr/>
        </p:nvSpPr>
        <p:spPr>
          <a:xfrm>
            <a:off x="457200" y="5852160"/>
            <a:ext cx="274320" cy="274320"/>
          </a:xfrm>
          <a:prstGeom prst="rect">
            <a:avLst>
              <a:gd name="adj" fmla="val 50000"/>
            </a:avLst>
          </a:prstGeom>
          <a:solidFill>
            <a:srgbClr val="27AE60"/>
          </a:solidFill>
          <a:ln/>
        </p:spPr>
      </p:sp>
      <p:sp>
        <p:nvSpPr>
          <p:cNvPr id="21" name="Text 19"/>
          <p:cNvSpPr/>
          <p:nvPr/>
        </p:nvSpPr>
        <p:spPr>
          <a:xfrm>
            <a:off x="1005840" y="5806440"/>
            <a:ext cx="3657600" cy="320040"/>
          </a:xfrm>
          <a:prstGeom prst="rect">
            <a:avLst/>
          </a:prstGeom>
          <a:noFill/>
          <a:ln/>
        </p:spPr>
        <p:txBody>
          <a:bodyPr wrap="square" rtlCol="0" anchor="ctr"/>
          <a:lstStyle/>
          <a:p>
            <a:pPr indent="0" marL="0">
              <a:buNone/>
            </a:pPr>
            <a:r>
              <a:rPr lang="en-US" sz="1500" b="1" dirty="0">
                <a:solidFill>
                  <a:srgbClr val="1A1A2E"/>
                </a:solidFill>
                <a:latin typeface="Arial" pitchFamily="34" charset="0"/>
                <a:ea typeface="Arial" pitchFamily="34" charset="-122"/>
                <a:cs typeface="Arial" pitchFamily="34" charset="-120"/>
              </a:rPr>
              <a:t>Emerging AI Traffic</a:t>
            </a:r>
            <a:endParaRPr lang="en-US" sz="1500" dirty="0"/>
          </a:p>
        </p:txBody>
      </p:sp>
      <p:sp>
        <p:nvSpPr>
          <p:cNvPr id="22" name="Text 20"/>
          <p:cNvSpPr/>
          <p:nvPr/>
        </p:nvSpPr>
        <p:spPr>
          <a:xfrm>
            <a:off x="4754880" y="5806440"/>
            <a:ext cx="6858000" cy="320040"/>
          </a:xfrm>
          <a:prstGeom prst="rect">
            <a:avLst/>
          </a:prstGeom>
          <a:noFill/>
          <a:ln/>
        </p:spPr>
        <p:txBody>
          <a:bodyPr wrap="square" rtlCol="0" anchor="ctr"/>
          <a:lstStyle/>
          <a:p>
            <a:pPr indent="0" marL="0">
              <a:buNone/>
            </a:pPr>
            <a:r>
              <a:rPr lang="en-US" sz="1300" dirty="0">
                <a:solidFill>
                  <a:srgbClr val="666666"/>
                </a:solidFill>
                <a:latin typeface="Arial" pitchFamily="34" charset="0"/>
                <a:ea typeface="Arial" pitchFamily="34" charset="-122"/>
                <a:cs typeface="Arial" pitchFamily="34" charset="-120"/>
              </a:rPr>
              <a:t>Already receiving traffic from ChatGPT (4 sessions, 1 conversion). Structured data, FAQ schema, and authoritative content can accelerate AI-referral traffic.</a:t>
            </a:r>
            <a:endParaRPr lang="en-US" sz="1300" dirty="0"/>
          </a:p>
        </p:txBody>
      </p:sp>
      <p:sp>
        <p:nvSpPr>
          <p:cNvPr id="23" name="Shape 21"/>
          <p:cNvSpPr/>
          <p:nvPr/>
        </p:nvSpPr>
        <p:spPr>
          <a:xfrm>
            <a:off x="457200" y="5852160"/>
            <a:ext cx="10972800" cy="731520"/>
          </a:xfrm>
          <a:prstGeom prst="rect">
            <a:avLst>
              <a:gd name="adj" fmla="val 6250"/>
            </a:avLst>
          </a:prstGeom>
          <a:solidFill>
            <a:srgbClr val="1A1A2E"/>
          </a:solidFill>
          <a:ln/>
        </p:spPr>
      </p:sp>
      <p:sp>
        <p:nvSpPr>
          <p:cNvPr id="24" name="Text 22"/>
          <p:cNvSpPr/>
          <p:nvPr/>
        </p:nvSpPr>
        <p:spPr>
          <a:xfrm>
            <a:off x="640080" y="5943600"/>
            <a:ext cx="10515600" cy="548640"/>
          </a:xfrm>
          <a:prstGeom prst="rect">
            <a:avLst/>
          </a:prstGeom>
          <a:noFill/>
          <a:ln/>
        </p:spPr>
        <p:txBody>
          <a:bodyPr wrap="square" rtlCol="0" anchor="ctr"/>
          <a:lstStyle/>
          <a:p>
            <a:pPr indent="0" marL="0">
              <a:buNone/>
            </a:pPr>
            <a:r>
              <a:rPr lang="en-US" sz="1500" dirty="0">
                <a:solidFill>
                  <a:srgbClr val="FFFFFF"/>
                </a:solidFill>
                <a:latin typeface="Arial" pitchFamily="34" charset="0"/>
                <a:ea typeface="Arial" pitchFamily="34" charset="-122"/>
                <a:cs typeface="Arial" pitchFamily="34" charset="-120"/>
              </a:rPr>
              <a:t>The site is not broken — it just needs content. With consistent investment, we can close the gap with competitors in 3-6 months.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A1A2E"/>
          </a:solidFill>
          <a:ln/>
        </p:spPr>
      </p:sp>
      <p:sp>
        <p:nvSpPr>
          <p:cNvPr id="3" name="Shape 1"/>
          <p:cNvSpPr/>
          <p:nvPr/>
        </p:nvSpPr>
        <p:spPr>
          <a:xfrm>
            <a:off x="0" y="1645920"/>
            <a:ext cx="12192000" cy="36576"/>
          </a:xfrm>
          <a:prstGeom prst="rect">
            <a:avLst/>
          </a:prstGeom>
          <a:solidFill>
            <a:srgbClr val="E94560"/>
          </a:solidFill>
          <a:ln/>
        </p:spPr>
      </p:sp>
      <p:sp>
        <p:nvSpPr>
          <p:cNvPr id="4" name="Text 2"/>
          <p:cNvSpPr/>
          <p:nvPr/>
        </p:nvSpPr>
        <p:spPr>
          <a:xfrm>
            <a:off x="731520" y="457200"/>
            <a:ext cx="10058400" cy="91440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Next Steps</a:t>
            </a:r>
            <a:endParaRPr lang="en-US" sz="3600" dirty="0"/>
          </a:p>
        </p:txBody>
      </p:sp>
      <p:sp>
        <p:nvSpPr>
          <p:cNvPr id="5" name="Shape 3"/>
          <p:cNvSpPr/>
          <p:nvPr/>
        </p:nvSpPr>
        <p:spPr>
          <a:xfrm>
            <a:off x="731520" y="2057400"/>
            <a:ext cx="502920" cy="502920"/>
          </a:xfrm>
          <a:prstGeom prst="rect">
            <a:avLst>
              <a:gd name="adj" fmla="val 9091"/>
            </a:avLst>
          </a:prstGeom>
          <a:solidFill>
            <a:srgbClr val="E94560"/>
          </a:solidFill>
          <a:ln/>
        </p:spPr>
      </p:sp>
      <p:sp>
        <p:nvSpPr>
          <p:cNvPr id="6" name="Text 4"/>
          <p:cNvSpPr/>
          <p:nvPr/>
        </p:nvSpPr>
        <p:spPr>
          <a:xfrm>
            <a:off x="731520" y="20574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7" name="Text 5"/>
          <p:cNvSpPr/>
          <p:nvPr/>
        </p:nvSpPr>
        <p:spPr>
          <a:xfrm>
            <a:off x="1463040" y="20116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Deploy technical quick wins (H1 fixes, schema repair, title fix, canonical tags)</a:t>
            </a:r>
            <a:endParaRPr lang="en-US" sz="1600" dirty="0"/>
          </a:p>
        </p:txBody>
      </p:sp>
      <p:sp>
        <p:nvSpPr>
          <p:cNvPr id="8" name="Text 6"/>
          <p:cNvSpPr/>
          <p:nvPr/>
        </p:nvSpPr>
        <p:spPr>
          <a:xfrm>
            <a:off x="1463040" y="24231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Can be completed in 1-2 days. Immediately fixes the most embarrassing technical issues.</a:t>
            </a:r>
            <a:endParaRPr lang="en-US" sz="1200" dirty="0"/>
          </a:p>
        </p:txBody>
      </p:sp>
      <p:sp>
        <p:nvSpPr>
          <p:cNvPr id="9" name="Shape 7"/>
          <p:cNvSpPr/>
          <p:nvPr/>
        </p:nvSpPr>
        <p:spPr>
          <a:xfrm>
            <a:off x="731520" y="2971800"/>
            <a:ext cx="502920" cy="502920"/>
          </a:xfrm>
          <a:prstGeom prst="rect">
            <a:avLst>
              <a:gd name="adj" fmla="val 9091"/>
            </a:avLst>
          </a:prstGeom>
          <a:solidFill>
            <a:srgbClr val="E94560"/>
          </a:solidFill>
          <a:ln/>
        </p:spPr>
      </p:sp>
      <p:sp>
        <p:nvSpPr>
          <p:cNvPr id="10" name="Text 8"/>
          <p:cNvSpPr/>
          <p:nvPr/>
        </p:nvSpPr>
        <p:spPr>
          <a:xfrm>
            <a:off x="731520" y="29718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11" name="Text 9"/>
          <p:cNvSpPr/>
          <p:nvPr/>
        </p:nvSpPr>
        <p:spPr>
          <a:xfrm>
            <a:off x="1463040" y="29260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Address mobile performance crisis (unused JS removal, image optimization, CLS fixes)</a:t>
            </a:r>
            <a:endParaRPr lang="en-US" sz="1600" dirty="0"/>
          </a:p>
        </p:txBody>
      </p:sp>
      <p:sp>
        <p:nvSpPr>
          <p:cNvPr id="12" name="Text 10"/>
          <p:cNvSpPr/>
          <p:nvPr/>
        </p:nvSpPr>
        <p:spPr>
          <a:xfrm>
            <a:off x="1463040" y="33375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Work with Sierra Interactive support to identify which scripts can be deferred or removed.</a:t>
            </a:r>
            <a:endParaRPr lang="en-US" sz="1200" dirty="0"/>
          </a:p>
        </p:txBody>
      </p:sp>
      <p:sp>
        <p:nvSpPr>
          <p:cNvPr id="13" name="Shape 11"/>
          <p:cNvSpPr/>
          <p:nvPr/>
        </p:nvSpPr>
        <p:spPr>
          <a:xfrm>
            <a:off x="731520" y="3886200"/>
            <a:ext cx="502920" cy="502920"/>
          </a:xfrm>
          <a:prstGeom prst="rect">
            <a:avLst>
              <a:gd name="adj" fmla="val 9091"/>
            </a:avLst>
          </a:prstGeom>
          <a:solidFill>
            <a:srgbClr val="E94560"/>
          </a:solidFill>
          <a:ln/>
        </p:spPr>
      </p:sp>
      <p:sp>
        <p:nvSpPr>
          <p:cNvPr id="14" name="Text 12"/>
          <p:cNvSpPr/>
          <p:nvPr/>
        </p:nvSpPr>
        <p:spPr>
          <a:xfrm>
            <a:off x="731520" y="38862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15" name="Text 13"/>
          <p:cNvSpPr/>
          <p:nvPr/>
        </p:nvSpPr>
        <p:spPr>
          <a:xfrm>
            <a:off x="1463040" y="38404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Noindex or prune ~2,900 thin IDX filter pages from sitemap</a:t>
            </a:r>
            <a:endParaRPr lang="en-US" sz="1600" dirty="0"/>
          </a:p>
        </p:txBody>
      </p:sp>
      <p:sp>
        <p:nvSpPr>
          <p:cNvPr id="16" name="Text 14"/>
          <p:cNvSpPr/>
          <p:nvPr/>
        </p:nvSpPr>
        <p:spPr>
          <a:xfrm>
            <a:off x="1463040" y="42519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Reclaim crawl budget so Google focuses on your ~70 pages with real content.</a:t>
            </a:r>
            <a:endParaRPr lang="en-US" sz="1200" dirty="0"/>
          </a:p>
        </p:txBody>
      </p:sp>
      <p:sp>
        <p:nvSpPr>
          <p:cNvPr id="17" name="Shape 15"/>
          <p:cNvSpPr/>
          <p:nvPr/>
        </p:nvSpPr>
        <p:spPr>
          <a:xfrm>
            <a:off x="731520" y="4800600"/>
            <a:ext cx="502920" cy="502920"/>
          </a:xfrm>
          <a:prstGeom prst="rect">
            <a:avLst>
              <a:gd name="adj" fmla="val 9091"/>
            </a:avLst>
          </a:prstGeom>
          <a:solidFill>
            <a:srgbClr val="E94560"/>
          </a:solidFill>
          <a:ln/>
        </p:spPr>
      </p:sp>
      <p:sp>
        <p:nvSpPr>
          <p:cNvPr id="18" name="Text 16"/>
          <p:cNvSpPr/>
          <p:nvPr/>
        </p:nvSpPr>
        <p:spPr>
          <a:xfrm>
            <a:off x="731520" y="48006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19" name="Text 17"/>
          <p:cNvSpPr/>
          <p:nvPr/>
        </p:nvSpPr>
        <p:spPr>
          <a:xfrm>
            <a:off x="1463040" y="47548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Create and publish first Mammoth Lakes market report</a:t>
            </a:r>
            <a:endParaRPr lang="en-US" sz="1600" dirty="0"/>
          </a:p>
        </p:txBody>
      </p:sp>
      <p:sp>
        <p:nvSpPr>
          <p:cNvPr id="20" name="Text 18"/>
          <p:cNvSpPr/>
          <p:nvPr/>
        </p:nvSpPr>
        <p:spPr>
          <a:xfrm>
            <a:off x="1463040" y="51663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No competitor consistently publishes market data -- first-mover advantage available now.</a:t>
            </a:r>
            <a:endParaRPr lang="en-US" sz="1200" dirty="0"/>
          </a:p>
        </p:txBody>
      </p:sp>
      <p:sp>
        <p:nvSpPr>
          <p:cNvPr id="21" name="Shape 19"/>
          <p:cNvSpPr/>
          <p:nvPr/>
        </p:nvSpPr>
        <p:spPr>
          <a:xfrm>
            <a:off x="731520" y="5715000"/>
            <a:ext cx="502920" cy="502920"/>
          </a:xfrm>
          <a:prstGeom prst="rect">
            <a:avLst>
              <a:gd name="adj" fmla="val 9091"/>
            </a:avLst>
          </a:prstGeom>
          <a:solidFill>
            <a:srgbClr val="E94560"/>
          </a:solidFill>
          <a:ln/>
        </p:spPr>
      </p:sp>
      <p:sp>
        <p:nvSpPr>
          <p:cNvPr id="22" name="Text 20"/>
          <p:cNvSpPr/>
          <p:nvPr/>
        </p:nvSpPr>
        <p:spPr>
          <a:xfrm>
            <a:off x="731520" y="57150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23" name="Text 21"/>
          <p:cNvSpPr/>
          <p:nvPr/>
        </p:nvSpPr>
        <p:spPr>
          <a:xfrm>
            <a:off x="1463040" y="56692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Begin Month 1 content calendar targeting 1,600/mo search volume keywords</a:t>
            </a:r>
            <a:endParaRPr lang="en-US" sz="1600" dirty="0"/>
          </a:p>
        </p:txBody>
      </p:sp>
      <p:sp>
        <p:nvSpPr>
          <p:cNvPr id="24" name="Text 22"/>
          <p:cNvSpPr/>
          <p:nvPr/>
        </p:nvSpPr>
        <p:spPr>
          <a:xfrm>
            <a:off x="1463040" y="60807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One optimized blog post per week. Target keywords where you are currently invisible.</a:t>
            </a:r>
            <a:endParaRPr lang="en-US" sz="1200" dirty="0"/>
          </a:p>
        </p:txBody>
      </p:sp>
      <p:sp>
        <p:nvSpPr>
          <p:cNvPr id="25" name="Shape 23"/>
          <p:cNvSpPr/>
          <p:nvPr/>
        </p:nvSpPr>
        <p:spPr>
          <a:xfrm>
            <a:off x="731520" y="6629400"/>
            <a:ext cx="502920" cy="502920"/>
          </a:xfrm>
          <a:prstGeom prst="rect">
            <a:avLst>
              <a:gd name="adj" fmla="val 9091"/>
            </a:avLst>
          </a:prstGeom>
          <a:solidFill>
            <a:srgbClr val="E94560"/>
          </a:solidFill>
          <a:ln/>
        </p:spPr>
      </p:sp>
      <p:sp>
        <p:nvSpPr>
          <p:cNvPr id="26" name="Text 24"/>
          <p:cNvSpPr/>
          <p:nvPr/>
        </p:nvSpPr>
        <p:spPr>
          <a:xfrm>
            <a:off x="731520" y="6629400"/>
            <a:ext cx="502920" cy="502920"/>
          </a:xfrm>
          <a:prstGeom prst="rect">
            <a:avLst/>
          </a:prstGeom>
          <a:noFill/>
          <a:ln/>
        </p:spPr>
        <p:txBody>
          <a:bodyPr wrap="square"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6</a:t>
            </a:r>
            <a:endParaRPr lang="en-US" sz="2200" dirty="0"/>
          </a:p>
        </p:txBody>
      </p:sp>
      <p:sp>
        <p:nvSpPr>
          <p:cNvPr id="27" name="Text 25"/>
          <p:cNvSpPr/>
          <p:nvPr/>
        </p:nvSpPr>
        <p:spPr>
          <a:xfrm>
            <a:off x="1463040" y="6583680"/>
            <a:ext cx="9601200" cy="41148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Review progress at 30-day mark with ranking and traffic analysis</a:t>
            </a:r>
            <a:endParaRPr lang="en-US" sz="1600" dirty="0"/>
          </a:p>
        </p:txBody>
      </p:sp>
      <p:sp>
        <p:nvSpPr>
          <p:cNvPr id="28" name="Text 26"/>
          <p:cNvSpPr/>
          <p:nvPr/>
        </p:nvSpPr>
        <p:spPr>
          <a:xfrm>
            <a:off x="1463040" y="6995160"/>
            <a:ext cx="9601200" cy="365760"/>
          </a:xfrm>
          <a:prstGeom prst="rect">
            <a:avLst/>
          </a:prstGeom>
          <a:noFill/>
          <a:ln/>
        </p:spPr>
        <p:txBody>
          <a:bodyPr wrap="square" rtlCol="0" anchor="ctr"/>
          <a:lstStyle/>
          <a:p>
            <a:pPr indent="0" marL="0">
              <a:buNone/>
            </a:pPr>
            <a:r>
              <a:rPr lang="en-US" sz="1200" dirty="0">
                <a:solidFill>
                  <a:srgbClr val="666666"/>
                </a:solidFill>
                <a:latin typeface="Arial" pitchFamily="34" charset="0"/>
                <a:ea typeface="Arial" pitchFamily="34" charset="-122"/>
                <a:cs typeface="Arial" pitchFamily="34" charset="-120"/>
              </a:rPr>
              <a:t>Measure keyword improvements, organic traffic changes, and new Search Console impressions.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SEO Audit: mammothlakesproperties.com</dc:subject>
  <dc:creator>SEO Audit Team</dc:creator>
  <cp:lastModifiedBy>SEO Audit Team</cp:lastModifiedBy>
  <cp:revision>1</cp:revision>
  <dcterms:created xsi:type="dcterms:W3CDTF">2026-03-20T05:35:21Z</dcterms:created>
  <dcterms:modified xsi:type="dcterms:W3CDTF">2026-03-20T05:35:21Z</dcterms:modified>
</cp:coreProperties>
</file>
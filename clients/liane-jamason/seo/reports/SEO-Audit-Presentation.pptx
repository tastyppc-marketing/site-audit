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Audit &amp; Growth Strategy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lianejamason.com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for: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Liane Jamason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Corcoran Dwellings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8,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3200400"/>
          </a:xfrm>
          <a:prstGeom prst="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GRADE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site has more content than most competitors (287 blog posts, 365+ pages) and genuine press credentials, but severe technical SEO deficiencies, broken lead capture, and zero non-branded organic visibility prevent these strengths from translating into search traffic or leads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0" y="1417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ranking — both branded, zero commercial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0" y="2057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365+ pages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83680" y="2103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60%+ missing meta descriptions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287 blog posts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83680" y="2788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any competitor — content is an asset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3429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583680" y="3474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valuation form — #1 seller lead page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70-83%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83680" y="4160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images missing alt text across key pages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00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lead magnets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583680" y="4846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downloadable guides, no email capture on blog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Critical Issues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57200" cy="457200"/>
          </a:xfrm>
          <a:prstGeom prst="rect">
            <a:avLst>
              <a:gd name="adj" fmla="val 10000"/>
            </a:avLst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non-branded organic visibility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645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for only 2 of 25 target keywords — both branded queries. Zero ranking for any commercial keyword (luxury homes, waterfront homes, neighborhoods, agent intent)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rect">
            <a:avLst>
              <a:gd name="adj" fmla="val 10000"/>
            </a:avLst>
          </a:prstGeom>
          <a:solidFill>
            <a:srgbClr val="E945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2331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primary lead capture funnel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2697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Analysis / home valuation form is non-rendering. Homepage CTA 'What's My Home Worth?' leads to a dead end. Seller conversion path is completely broken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457200" cy="457200"/>
          </a:xfrm>
          <a:prstGeom prst="rect">
            <a:avLst>
              <a:gd name="adj" fmla="val 10000"/>
            </a:avLst>
          </a:prstGeom>
          <a:solidFill>
            <a:srgbClr val="E9456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97280" y="3383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60%+ of core pages missing meta descriptions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Homepage, blog index, reviews, property search, active listings, sold listings, and most area pages have no meta descriptions. Google auto-generates poor snippets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434840"/>
            <a:ext cx="457200" cy="457200"/>
          </a:xfrm>
          <a:prstGeom prst="rect">
            <a:avLst>
              <a:gd name="adj" fmla="val 10000"/>
            </a:avLst>
          </a:prstGeom>
          <a:solidFill>
            <a:srgbClr val="E9456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70-83% of images missing alt text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images, professional headshot, press logos (Bay News 9, Tampa Bay Times, HuffPost), property photos, and blog featured images all lack alt text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486400"/>
            <a:ext cx="457200" cy="457200"/>
          </a:xfrm>
          <a:prstGeom prst="rect">
            <a:avLst>
              <a:gd name="adj" fmla="val 10000"/>
            </a:avLst>
          </a:prstGeom>
          <a:solidFill>
            <a:srgbClr val="E9456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5486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97280" y="5486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sitemap and thin-page indexing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9728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attachment sitemaps feeding hundreds of thin media pages into Google's index. One broken sitemap returning 404. Crawl budget wasted on junk content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Visibility: 2 of 25 Keywords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tested 25 keywords covering brand, type, area, intent, and long-tail terms.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lianejamason.com was found for 2 of them.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0972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828800"/>
                <a:gridCol w="18288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Avalon Group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#1 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Liane Jamason realtor St Petersburg 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#1, #2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lianejamason.com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Corcoran Dwellings St Petersburg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corcoran.com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 Petersburg FL homes for sale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zillow.com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 Petersburg FL real estate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zillow.com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Tampa Bay waterfront homes for sale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zillow.com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 Pete Beach homes for sale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zillow.com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Pinellas County real estate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zillow.com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Shore Acres St Petersburg homes for sale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zillow.com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Gap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Site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Avalon Group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Eagan Luxury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Blog Posts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Liane leads in volume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Pages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365+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Mid-range overall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Neighborhood Pages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Behind Eagan &amp; Smith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Homepage Meta Desc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gap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Schema Depth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Excellent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Behind Eagan Luxury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Reviews Highlighted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"Top 3" badge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300+ 5-star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 5.0 stars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Under-leveraged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 Magnets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Broken home value 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Reports, guides, SMS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Valuation, consultation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functional magnets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Est. Domain Rating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35-45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top competitors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Top Competitors Are Doing Right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Review-Driven SEO (Avalon Group)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28016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'300+ 5-star reviews' embedded in meta descriptions, homepage hero, and every key page. Drives click-through rates and builds instant trust. Multi-layered lead capture with market report lead magnets, SMS opt-in, downloadable guides, and OAuth signup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Markup Sophistication (Eagan Luxury)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214884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Implements AggregateRating (5.0 stars, 85 reviews), AggregateOffer (150 listings, $800K-$12M), Service definitions, BreadcrumbList, and CollectionPage schemas. Enables star ratings and price ranges in search results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Magazine Model (Eagan Luxury)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01752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30 communities has restaurant guides and lifestyle magazine subpages — 60+ additional content pages targeting '[Neighborhood] restaurants' and '[Neighborhood] lifestyle' keywords. Unique in the market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Authority (Smith &amp; Associates)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88620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55+ years in business, 100+ agents each with personalized subdomains, 50+ community pages spanning all of Tampa Bay. Agent subdomain strategy massively expands SEO footprint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Content Integration (Salamone Group)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75488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Art, Food, Events sections create a lifestyle destination. Compass Concierge program (fronting seller prep costs) is a genuine competitive advantage. Premium domain stpete.pro is short and keyword-rich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5623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Notable Transactions Showcase (Dynasty Group)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562356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displays 30+ past sales with exact prices ($14M, $13M, $9.6M). Far more compelling social proof than generic 'Top 1%' claims. Modern Luxury Presence platform with video backgrounds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Growth Strategy: 4 Pillars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4389120"/>
          </a:xfrm>
          <a:prstGeom prst="rect">
            <a:avLst>
              <a:gd name="adj" fmla="val 3448"/>
            </a:avLst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1031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9260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broken forms, meta descriptions,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tags, H1 tags, schema types,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sitemap cleanup, attachment noindex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5029200"/>
            <a:ext cx="2651760" cy="54864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651760" cy="4389120"/>
          </a:xfrm>
          <a:prstGeom prst="rect">
            <a:avLst>
              <a:gd name="adj" fmla="val 3448"/>
            </a:avLst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5544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611880" y="2743200"/>
            <a:ext cx="21031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9260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blog posts, expand neighborhood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to 2,000+ words, create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property-type landing pages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5029200"/>
            <a:ext cx="2651760" cy="54864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1-2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651760" cy="4389120"/>
          </a:xfrm>
          <a:prstGeom prst="rect">
            <a:avLst>
              <a:gd name="adj" fmla="val 3448"/>
            </a:avLst>
          </a:prstGeom>
          <a:solidFill>
            <a:srgbClr val="1A1A2E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5544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92240" y="2743200"/>
            <a:ext cx="21031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9260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10+ new neighborhood pages,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 building pages, relocation guide,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content hub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5029200"/>
            <a:ext cx="2651760" cy="54864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2-4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651760" cy="4389120"/>
          </a:xfrm>
          <a:prstGeom prst="rect">
            <a:avLst>
              <a:gd name="adj" fmla="val 3448"/>
            </a:avLst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9098280" y="15544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LEADS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372600" y="2743200"/>
            <a:ext cx="21031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9260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DA 90+ directory profiles,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Chamber, email newsletter,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magnets, press re-engagement,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event sponsorships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098280" y="5029200"/>
            <a:ext cx="2651760" cy="54864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4+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Wins: Week 1-2 (Low Effort, High Impact)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09728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7724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 Market Analysis page form — primary seller lead capture is broken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9C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 meta descriptions for Homepage, Blog, Reviews, Contact, Search, Active/Sold Listings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Rewrite homepage title tag: 'St. Petersburg Luxury &amp; Waterfront Real Estate | Liane Jamason'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 Active Listings meta description (currently says 'View My Sold Listings')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9C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 Market Analysis meta description typo ('you home' → 'your home')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9C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Noindex off-topic pages (travel hacking, credit card points)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9C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Disable attachment page indexing in Rank Math (7 sitemaps feeding thin pages)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 or remove broken idx_page-sitemap.xml (returns 404)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9C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StPetersburg.com listing from 'Smith &amp; Associates' to Corcoran Dwellings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9C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 Yelp, Realtor.com, Redfin, BBB profiles (DA 90+ directories)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10 items are low effort and can be completed by a developer in 1-2 business days.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Strategy: Month 1-2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Content Actions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373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all H1 tag issues (duplicates on 8+ pages, missing on blog index, generic on 5+ pages)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13432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6771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 all core page title tags (About, Sell, Buy, Contact, Blog)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43784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9806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Buy page to remove 'Jamason Group' branding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3284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email newsletter signup to blog sidebar and post footers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04488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85876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end-of-post CTAs to all blog articles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434840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891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 Sell page with real seller content, process, and CTAs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965192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91947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alt text to all content images (hero, headshot, press logos, property photos)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5495544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44982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broken pages (In the Press, Short Sales, Clearwater)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6025896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98017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AggregateRating/Review schema to Reviews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6556248"/>
            <a:ext cx="228600" cy="228600"/>
          </a:xfrm>
          <a:prstGeom prst="rect">
            <a:avLst>
              <a:gd name="adj" fmla="val 8000"/>
            </a:avLst>
          </a:prstGeom>
          <a:solidFill>
            <a:srgbClr val="E94560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651052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Verify/optimize Google Business Profile; begin weekly posting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 Content Calendar: Next 3 Months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6128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72000"/>
                <a:gridCol w="32004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 Target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1: Establish Market Authority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St. Petersburg Housing Market Update: Spring 2026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 petersburg fl housing market 2026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Update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Complete Guide to Buying a Waterfront Home in St. Petersburg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waterfront homes st petersburg 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Pillar / Evergreen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Snell Isle: St. Petersburg's Premier Waterfront Community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snell isle homes for sale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Neighborhood Deep-Dive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Now a Good Time to Buy a Home in St. Petersburg FL? (2026 Analysis)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a home in st petersburg 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Informational / FAQ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2: Build Neighborhood Depth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Neighborhoods in St. Petersburg FL for Waterfront Living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waterfront homes st petersburg 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Comparison / Pillar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to Know About Flood Insurance for St. Petersburg Waterfront Homes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waterfront home flood insurance florida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 / E-E-A-T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Historic Old Northeast: Architecture, Lifestyle &amp; Real Estate Guide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 northeast st petersburg real estate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Neighborhood Deep-Dive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Selling Your St. Petersburg Home in 2026: The Complete Guide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my house st petersburg 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Seller Resource / Pillar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3: Expand Reach &amp; Convert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St. Pete Condo Market Report: Prices, Inventory &amp; Outlook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st pete condos for sale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Update /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Shore Acres vs. Old Northeast: Which Neighborhood Is Right for You?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shore acres st petersburg homes for sale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Comparison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to St. Petersburg FL: The Complete Relocation Guide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to st petersburg 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Pillar / Evergreen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Wk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St. Petersburg Real Estate Investment: Cap Rates, Rental Markets &amp; Opportunity Zones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 petersburg fl investment property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Investor-Focused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Ready-to-Deploy: What We've Already Built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deliverables were created as part of this audit and are ready for implementation today.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  <a:gridCol w="18288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Deliverable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Titles &amp; Descriptions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 pages (core, neighborhood, blog, utility)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 — 2 versions created (Claude + Codex), verify URLs and paste into Rank Math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Schema Markup (JSON-LD)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 schema blocks (Organization, RealEstateAgent, AggregateRating, FAQPage, BreadcrumbList, AboutPage, Service, WebSite)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 — 2 versions created, verify license number and review count before deploying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Community/Neighborhood Pages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St Pete Condos + additional neighborhoods (2,000+ words each)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 — 2 versions created, paste into CMS as new pages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Blog Posts (SEO-optimized)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posts: Market Report, Waterfront Guide, Snell Isle Deep-Dive, Is Now a Good Time to Buy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 — 2 versions created, paste into WordPress blog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Pages Created: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Downtown St. Pete Condos for Sale  |  St. Petersburg Waterfront Homes Guide  |  Snell Isle Neighborhood Deep-Dive  |  Selling Your St. Petersburg Home Guide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 Posts Created: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St. Petersburg FL Real Estate Market Report: Spring 2026  |  The Complete Guide to Buying a Waterfront Home in St. Petersburg  |  Snell Isle: St. Petersburg's Premier Waterfront Community  |  Is Now a Good Time to Buy a Home in St. Petersburg FL?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Medium-Term Roadmap: Month 2-4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Neighborhood Landing Pages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931920" y="12344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Snell Isle, Old Northeast, Downtown, Shore Acres, Tierra Verde, Venetian Isles, Coffee Pot Bayou — each with 2,000+ words, market stats, school data, lifestyle content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Property-Type Pages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319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Waterfront Homes, Luxury Homes, Waterfront Condos, Downtown Condos, Historic Homes — dedicated pages with unique content and filtered listings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Existing Neighborhood Pages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931920" y="2423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Shore Acres, Old Northeast, Snell Isle, Pinellas Point, Tierra Verde — from 250-550 words to 2,000-2,500+ with market statistics tables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to St. Petersburg Relocation Guide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 words covering neighborhoods, cost of living, schools, flood zones, lifestyle — high-volume keyword opportunity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 Building Pages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31920" y="3611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Waldorf Astoria Residences, Saltaire, ONE St Petersburg, 400 Central, The Salvador — Eagan dominates this space with 20+ pages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25196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206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Downloadable Lead Magnets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31920" y="42062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Waterfront Buyer's Checklist, 2026 Market Report PDF — gated behind email capture to start building subscriber list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8006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FAQPage Schema on Blog Posts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931920" y="4800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Update, Best Neighborhoods, Flood Zones — earns rich results in SERPs and AI Overview citations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440680"/>
            <a:ext cx="182880" cy="182880"/>
          </a:xfrm>
          <a:prstGeom prst="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394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Cross-Linking Strategy Across Owned Domains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31920" y="5394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stpetersburgrealestate.com, dwellingwell.com, dwellfl.com all properly linking to lianejamason.com with relevant anchor text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Strategy: Month 4+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4937760"/>
          </a:xfrm>
          <a:prstGeom prst="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371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Authority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2194560" cy="18288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Monthly waterfront market reports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Build neighborhood pages to 20+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Lifestyle/restaurant guides per area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886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School district &amp; comparison tools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Quarterly luxury real estate review PDF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280160"/>
            <a:ext cx="2743200" cy="4937760"/>
          </a:xfrm>
          <a:prstGeom prst="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1371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&amp; Media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20440" y="1920240"/>
            <a:ext cx="2194560" cy="18288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Embed 9+ Bay News 9 segments on Press page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26974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Monthly video market updates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Neighborhood tour videos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3886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VideoObject schema on all video pages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Pitch Architectural Digest features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1280160"/>
            <a:ext cx="2743200" cy="4937760"/>
          </a:xfrm>
          <a:prstGeom prst="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1371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Generation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0" y="1920240"/>
            <a:ext cx="2194560" cy="18288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Email newsletter (biggest gap)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63640" y="26974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Gated PDF market reports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End-of-post CTAs on all 287 blog posts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Neighborhood-specific contact forms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6364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SMS opt-in for property alerts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006840" y="1280160"/>
            <a:ext cx="2743200" cy="4937760"/>
          </a:xfrm>
          <a:prstGeom prst="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29" name="Text 27"/>
          <p:cNvSpPr/>
          <p:nvPr/>
        </p:nvSpPr>
        <p:spPr>
          <a:xfrm>
            <a:off x="9006840" y="1371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SEO &amp; Links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9281160" y="1920240"/>
            <a:ext cx="2194560" cy="18288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St. Pete Chamber membership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44000" y="26974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Johns Hopkins donor page backlink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USF St. Petersburg partnership (.edu)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44000" y="3886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SHINE / Localtopia event sponsorships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14400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Tampa Bay Times recurring column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Competitive Advantages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20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Content Volume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754880" y="19202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287 blog posts — more than any single competitor. This content library is a genuine asset that competitors would need years to replicate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697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Press Credentials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6974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Forbes, WSJ, USA Today, HuffPost, Realtor.com features, 9+ Bay News 9 TV segments, ABC Action News, 10 Tampa Bay — no local competitor has this breadth of national press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474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 Post Quality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3474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posts ('9 Mistakes Luxury Sellers Make' at 3,500 words) demonstrate exactly the first-hand expertise that Google's E-E-A-T framework rewards — specific local references, genuine market knowledge, personality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251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Broker/Owner Authority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425196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Recognized individual expert and broker/owner, not part of a faceless team. For luxury buyers who value personal service, this is a genuine differentiator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5029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Corcoran Brand Affiliation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50292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luxury brand recognition that competitors at LPT Realty, Keller Williams, or Michael Saunders cannot match in the luxury segment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85216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806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Geographic Breadth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58064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Tampa, Clearwater, Dunedin, and surrounding areas — broader service area than most boutique competitors who focus only on St. Pete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662940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6583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Hyper-Local Neighborhood Knowledge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54880" y="65836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Shore Acres, Old Northeast, Snell Isle, and Pinellas Point pages contain insider knowledge no competitor replicates: SACA, C. Perry Snell history, 'Dualing Publixs'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7406640"/>
            <a:ext cx="274320" cy="274320"/>
          </a:xfrm>
          <a:prstGeom prst="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7360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Owned Domains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754880" y="73609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owned domains (stpetersburgrealestate.com, dwellingwell.com, dwellfl.com) provide cross-link opportunity not fully utilized by any competitor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852160"/>
            <a:ext cx="10972800" cy="731520"/>
          </a:xfrm>
          <a:prstGeom prst="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943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site is not broken — it just needs content. With consistent investment, we can close the gap with competitors in 3-6 months.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12192000" cy="36576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502920" cy="502920"/>
          </a:xfrm>
          <a:prstGeom prst="rect">
            <a:avLst>
              <a:gd name="adj" fmla="val 9091"/>
            </a:avLst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20116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broken Market Analysis form and deploy meta descriptions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4231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done this week — highest-impact, lowest-effort fixes that restore the seller funnel and improve search snippets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971800"/>
            <a:ext cx="502920" cy="502920"/>
          </a:xfrm>
          <a:prstGeom prst="rect">
            <a:avLst>
              <a:gd name="adj" fmla="val 9091"/>
            </a:avLst>
          </a:prstGeom>
          <a:solidFill>
            <a:srgbClr val="E9456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2926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ready-to-use deliverables (meta tags, schema, community pages, blog posts)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337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versions of each deliverable are ready — verify client-specific details and paste into CMS / Rank Math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886200"/>
            <a:ext cx="502920" cy="502920"/>
          </a:xfrm>
          <a:prstGeom prst="rect">
            <a:avLst>
              <a:gd name="adj" fmla="val 9091"/>
            </a:avLst>
          </a:prstGeom>
          <a:solidFill>
            <a:srgbClr val="E9456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38404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missing directory profiles (Yelp, Realtor.com, Redfin, BBB, Bing Places)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42519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90+ backlinks from directories where all competitors are already present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800600"/>
            <a:ext cx="502920" cy="502920"/>
          </a:xfrm>
          <a:prstGeom prst="rect">
            <a:avLst>
              <a:gd name="adj" fmla="val 9091"/>
            </a:avLst>
          </a:prstGeom>
          <a:solidFill>
            <a:srgbClr val="E9456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800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463040" y="4754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Month 1 content calendar — one blog post per week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63040" y="51663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report, waterfront guide, Snell Isle deep-dive, and buyer FAQ targeting highest-value keywords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5715000"/>
            <a:ext cx="502920" cy="502920"/>
          </a:xfrm>
          <a:prstGeom prst="rect">
            <a:avLst>
              <a:gd name="adj" fmla="val 9091"/>
            </a:avLst>
          </a:prstGeom>
          <a:solidFill>
            <a:srgbClr val="E9456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715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56692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progress at 30-day mark and measure keyword improvements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63040" y="60807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rankings for top 25 keywords, organic traffic changes, and lead capture volume from fixed forms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SEO Audit: lianejamason.com</dc:subject>
  <dc:creator>SEO Audit Team</dc:creator>
  <cp:lastModifiedBy>SEO Audit Team</cp:lastModifiedBy>
  <cp:revision>1</cp:revision>
  <dcterms:created xsi:type="dcterms:W3CDTF">2026-04-08T22:07:56Z</dcterms:created>
  <dcterms:modified xsi:type="dcterms:W3CDTF">2026-04-08T22:07:56Z</dcterms:modified>
</cp:coreProperties>
</file>
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92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Audit &amp; Growth Strategy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gardnergrouprealtors.com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for: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Murray Gardner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Keller Williams Park City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480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12,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0" cy="32004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GRADE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Large, content-rich site (493 pages, 52 blog posts) with zero non-branded organic visibility — fixable root causes identified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 ranking (branded only)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493 pages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0" y="2103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zero non-branded rankings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blog posts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83680" y="2788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5-month publishing gap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342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83680" y="3474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backlink authority vs competitors 5-7/10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schema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83680" y="4160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markup on homepage/contact/about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4800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ski/golf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83680" y="4846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 pages (competitors have 20-31)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Critical Issues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" cy="457200"/>
          </a:xfrm>
          <a:prstGeom prst="rect">
            <a:avLst>
              <a:gd name="adj" fmla="val 10000"/>
            </a:avLst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non-branded organic visibility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645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Ranks for 2/25 keywords (branded only). 0 non-branded page 1 rankings despite 493 pages and 52 blog posts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457200" cy="457200"/>
          </a:xfrm>
          <a:prstGeom prst="rect">
            <a:avLst>
              <a:gd name="adj" fmla="val 10000"/>
            </a:avLst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331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backlink profile (4/10 authority)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697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 at 5-7/10. Missing major directories (Realtor.com, Trulia, Redfin), no press/news backlinks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457200" cy="457200"/>
          </a:xfrm>
          <a:prstGeom prst="rect">
            <a:avLst>
              <a:gd name="adj" fmla="val 10000"/>
            </a:avLst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3383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Near-zero contextual internal links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380+ community pages have virtually no body-content internal links — only nav/footer links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457200" cy="457200"/>
          </a:xfrm>
          <a:prstGeom prst="rect">
            <a:avLst>
              <a:gd name="adj" fmla="val 10000"/>
            </a:avLst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434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schema markup site-wide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RealEstateAgent, LocalBusiness, Organization, FAQPage, BreadcrumbList, or BlogPosting schema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486400"/>
            <a:ext cx="457200" cy="457200"/>
          </a:xfrm>
          <a:prstGeom prst="rect">
            <a:avLst>
              <a:gd name="adj" fmla="val 10000"/>
            </a:avLst>
          </a:prstGeom>
          <a:solidFill>
            <a:srgbClr val="E9456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97280" y="5486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Untapped PR and personal brand potential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5852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Gun instructor, F/A-18 pilot, 7 Showcase homes — most compelling narrative in Park City RE, not leveraged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Visibility: 2 of 25 Keywords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tested 25 keywords covering brand, type, area, intent, and long-tail terms.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gardnergrouprealtors.com was found for 2 of them.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0972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1828800"/>
                <a:gridCol w="18288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Keyword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Site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Derrik Carlson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#1 Result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Murray Gardner Park City real estate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#1, #7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gardnergrouprealtors.com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Gardner Group Realtors Park City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#1-#5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gardnergrouprealtors.com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real estate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zillow.com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homes for sale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zillow.com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Utah real estate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laurawillisrealestate.com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condos for sale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zillow.com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luxury homes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realestateinparkcity.com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Deer Valley homes for sale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steinsrealty.com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Gap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286000"/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Site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Derrik Carlson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 Fisher / Fisher Group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Pages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~1,200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competitive on volume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Blog Posts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publishing cadence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Page Depth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3,500-5,300 words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3,000-6,000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500-2,000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wins on new pages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Schema Markup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suite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gap vs Carlson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Keywords Ranking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/ 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/ 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/ 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6x behind top competitor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Ski/Golf Pages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Biggest content gap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Backlink Authority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6/10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7/10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 link profile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Top Competitors Are Doing Right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Exact-Match Domains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926080" y="128016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Carlson (realestateinparkcity.com) and Magnotta (parkcityrealestate.com) have keyword-rich domains providing inherent SEO advantage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Depth + Year Stamps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214884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Carlson publishes 3,000-6,000+ word guides with year-stamped titles for freshness signals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Ski/Golf Lifestyle Verticals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301752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Willis has 31 dedicated ski + golf pages; Fisher has subdivision-level coverage. Gardner has zero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Volume &amp; Frequency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388620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Magnotta: 208 blog posts with question-based titles for featured snippets. Carlson: 150+ with market reports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&amp; Brand Backlinks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475488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Carlson featured in Business Insider/Mansion Global; Fisher in Vogue/WSJ; Willis has Sotheby's brand network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5623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Schema on Content Pages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562356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Carlson uses FAQ schema targeting People Also Ask; enables rich results and AI Overview citations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Growth Strategy: 4 Pillars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4389120"/>
          </a:xfrm>
          <a:prstGeom prst="rect">
            <a:avLst>
              <a:gd name="adj" fmla="val 3448"/>
            </a:avLst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210312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9260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H1 tags, add schema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markup, alt text, OG tags,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directory profiles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2651760" cy="54864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51760" cy="4389120"/>
          </a:xfrm>
          <a:prstGeom prst="rect">
            <a:avLst>
              <a:gd name="adj" fmla="val 3448"/>
            </a:avLst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5544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611880" y="2743200"/>
            <a:ext cx="210312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29260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linking, publish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posts, expand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pages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5029200"/>
            <a:ext cx="2651760" cy="54864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1-2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651760" cy="4389120"/>
          </a:xfrm>
          <a:prstGeom prst="rect">
            <a:avLst>
              <a:gd name="adj" fmla="val 3448"/>
            </a:avLst>
          </a:prstGeom>
          <a:solidFill>
            <a:srgbClr val="1A1A2E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5544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2743200"/>
            <a:ext cx="210312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9260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ski property pages,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golf community pages,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guides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5029200"/>
            <a:ext cx="2651760" cy="54864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2-4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98280" y="1371600"/>
            <a:ext cx="2651760" cy="4389120"/>
          </a:xfrm>
          <a:prstGeom prst="rect">
            <a:avLst>
              <a:gd name="adj" fmla="val 3448"/>
            </a:avLst>
          </a:pr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9098280" y="15544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PR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372600" y="2743200"/>
            <a:ext cx="210312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281160" y="29260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pitches, video series,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relocation guide, citations,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Overview optimization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98280" y="5029200"/>
            <a:ext cx="2651760" cy="54864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4+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Wins: Week 1-2 (Low Effort, High Impact)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77724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 homepage H1 (single, keyword-rich)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Rewrite homepage meta description with brand + differentiator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Rewrite Buyers/Sellers meta descriptions (expand to 140-160 chars)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H1 to property search results pages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 About page H1 and heading hierarchy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alt text to 60 missing homepage images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 Realtor.com, Trulia, Redfin agent profiles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 duplicate footer H2/H3 blocks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RealEstateAgent + Organization schema to homepage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 Visit Park City listing to Realtor category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10 items are low effort and can be completed by a developer in 1-2 business days.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Strategy: Month 1-2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Content Actions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28600" cy="228600"/>
          </a:xfrm>
          <a:prstGeom prst="rect">
            <a:avLst>
              <a:gd name="adj" fmla="val 8000"/>
            </a:avLst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FAQPage schema on 40+ community pages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13432"/>
            <a:ext cx="228600" cy="228600"/>
          </a:xfrm>
          <a:prstGeom prst="rect">
            <a:avLst>
              <a:gd name="adj" fmla="val 8000"/>
            </a:avLst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6771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BreadcrumbList schema site-wide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43784"/>
            <a:ext cx="228600" cy="228600"/>
          </a:xfrm>
          <a:prstGeom prst="rect">
            <a:avLst>
              <a:gd name="adj" fmla="val 8000"/>
            </a:avLst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9806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Article/BlogPosting schema to 52 blog posts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74136"/>
            <a:ext cx="228600" cy="228600"/>
          </a:xfrm>
          <a:prstGeom prst="rect">
            <a:avLst>
              <a:gd name="adj" fmla="val 8000"/>
            </a:avLst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28416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og:title and og:description to all page templates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904488"/>
            <a:ext cx="228600" cy="228600"/>
          </a:xfrm>
          <a:prstGeom prst="rect">
            <a:avLst>
              <a:gd name="adj" fmla="val 8000"/>
            </a:avLst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85876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3-5 contextual internal links to top 20 community pages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434840"/>
            <a:ext cx="228600" cy="228600"/>
          </a:xfrm>
          <a:prstGeom prst="rect">
            <a:avLst>
              <a:gd name="adj" fmla="val 8000"/>
            </a:avLst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891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canonical tags to property search/IDX pages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965192"/>
            <a:ext cx="228600" cy="228600"/>
          </a:xfrm>
          <a:prstGeom prst="rect">
            <a:avLst>
              <a:gd name="adj" fmla="val 8000"/>
            </a:avLst>
          </a:prstGeom>
          <a:solidFill>
            <a:srgbClr val="E9456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91947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Year-stamp titles, H1s, meta descriptions on pillar pages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5495544"/>
            <a:ext cx="228600" cy="228600"/>
          </a:xfrm>
          <a:prstGeom prst="rect">
            <a:avLst>
              <a:gd name="adj" fmla="val 8000"/>
            </a:avLst>
          </a:pr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44982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to 10+ remaining directories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6025896"/>
            <a:ext cx="228600" cy="228600"/>
          </a:xfrm>
          <a:prstGeom prst="rect">
            <a:avLst>
              <a:gd name="adj" fmla="val 8000"/>
            </a:avLst>
          </a:prstGeom>
          <a:solidFill>
            <a:srgbClr val="E9456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980176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dedicated Murray Gardner agent page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6556248"/>
            <a:ext cx="228600" cy="228600"/>
          </a:xfrm>
          <a:prstGeom prst="rect">
            <a:avLst>
              <a:gd name="adj" fmla="val 8000"/>
            </a:avLst>
          </a:prstGeom>
          <a:solidFill>
            <a:srgbClr val="E94560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651052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4 new blog posts (market report, neighborhoods, investment, luxury)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Content Calendar: Next 3 Months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116128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572000"/>
                <a:gridCol w="320040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Keyword Target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1: Re-Establish Authority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Real Estate Market Report -- Q1 2026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real estate market 2026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Report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 Guide to Ski-In/Ski-Out Properties in Park City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ski-in ski-out homes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Pillar Guide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 Park City a Good Investment for Rental Property? (2026 Data)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investment property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Informational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vs. Deer Valley: What Buyers Need to Know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vs Deer Valley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Comparison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2: Build Lifestyle Verticals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Golf Communities in Park City: Promontory, Glenwild, Tuhaye Compared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golf community homes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Comparison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Much Does It Cost to Build a Custom Home in Park City? (2026)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to build home Park City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Expert Guide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a Former Fighter Pilot Notices on a Luxury Home Tour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real estate agent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 Expertise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New Construction Update: 2026-2027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new construction homes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Update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3: Expand Reach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Ultimate Park City Relocation Guide (2026 Edition)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relocating to Park City Utah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Pillar Guide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Deer Valley Real Estate Market Report -- Spring 2026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Deer Valley homes for sale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Report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Short-Term Rental Rules in Park City: What Investors Need to Know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short-term rental regulations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Investment Guide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Neighborhoods in Park City for Families (2026)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neighborhoods Park City Utah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Listicle Guide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Ready-to-Deploy: What We've Already Built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deliverables were created as part of this audit and are ready for implementation today.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0972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18288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Deliverable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Titles &amp; Descriptions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493 pages (67+ unique, 380 templated)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Ready -- verify with client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Schema Markup (JSON-LD)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schema blocks, production-ready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Ready -- verify URLs/contact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Pages (expanded)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pages, 1,000-1,500 words each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Ready -- paste into CMS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Blog Posts (SEO-optimized)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posts, 900-1,200 words each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Ready -- paste into CMS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Pages Created: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Deer Valley Real Estate  |  Promontory Homes for Sale  |  Jeremy Ranch Real Estate  |  Canyons Village / Park Meadows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5029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Posts Created: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5394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 City Real Estate Market Report: Spring 2026  |  Best Neighborhoods in Park City (2026 Guide)  |  Is Park City Real Estate a Good Investment?  |  Park City Luxury Ski Homes Guide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Medium-Term Roadmap: Month 2-4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 Property Pages (10-15)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234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content gap: Willis has 20 ski pages, Gardner has zero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Golf Community Pages (6-8)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1828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Willis has 11 golf pages; Promontory, Glenwild, Tuhaye, Victory Ranch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423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Valuation Landing Page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2423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High-converting seller lead capture for 'what is my home worth'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My Home Landing Page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page targeting seller-intent keywords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611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Site-Wide Internal Linking (380+ pages)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3611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contextual body links across all community pages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206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 City Local Guide (10-15 pages)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4206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 content: dining, activities, events, schools, neighborhoods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84632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800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Neighborhood Market Reports (5)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0" y="4800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area data reports that attract backlinks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44068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394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Schema Expansion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31920" y="5394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FAQPage schema on all 40+ community FAQ sections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Strategy: Month 4+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743200" cy="493776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Authority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2194560" cy="1828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Monthly market reports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Ski/golf vertical pages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291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Relocation guide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886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Comparison content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'Best of Park City' resources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280160"/>
            <a:ext cx="2743200" cy="493776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&amp; Backlinks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520440" y="1920240"/>
            <a:ext cx="2194560" cy="1828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Business Insider pitch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697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Western Home Journal feature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3291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Park Record interview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3886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Ski Utah sponsorship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LuxuryRealEstate.com membership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280160"/>
            <a:ext cx="2743200" cy="493776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Generation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0" y="1920240"/>
            <a:ext cx="2194560" cy="1828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Community email subscriptions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2697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Blog subscriber capture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3291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Chat widget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3886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Video content series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Downloadable guides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06840" y="1280160"/>
            <a:ext cx="2743200" cy="493776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29" name="Text 27"/>
          <p:cNvSpPr/>
          <p:nvPr/>
        </p:nvSpPr>
        <p:spPr>
          <a:xfrm>
            <a:off x="900684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SEO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281160" y="1920240"/>
            <a:ext cx="2194560" cy="1828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Complete directory profiles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0" y="2697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Citation consistency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0" y="3291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Google Business Profile optimization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44000" y="3886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AI Overview monitoring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Performance audit quarterly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Competitive Advantages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74320" cy="274320"/>
          </a:xfrm>
          <a:prstGeom prst="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Exceptional Content Quality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0" y="19202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blog posts at 2,000-4,000 words with genuine local expertise -- among the best in the market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274320" cy="274320"/>
          </a:xfrm>
          <a:prstGeom prst="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Compelling Personal Story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26974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Gun instructor, F/A-18 pilot, 7 Showcase homes -- most differentiating narrative in Park City 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274320" cy="274320"/>
          </a:xfrm>
          <a:prstGeom prst="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Community Architecture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0" y="3474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493 pages with community-centric structure; more pages than 3 of 4 key competitors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274320" cy="274320"/>
          </a:xfrm>
          <a:prstGeom prst="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Platform as Competitors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0" y="42519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Sierra Interactive -- everything Willis/Magnotta do technically, Gardner can match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274320" cy="274320"/>
          </a:xfrm>
          <a:prstGeom prst="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5029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Expertise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54880" y="50292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background gives unique credibility evaluating properties that no other agent can claim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852160"/>
            <a:ext cx="10972800" cy="731520"/>
          </a:xfrm>
          <a:prstGeom prst="rect">
            <a:avLst>
              <a:gd name="adj" fmla="val 6250"/>
            </a:avLst>
          </a:prstGeom>
          <a:solidFill>
            <a:srgbClr val="1A1A2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943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site is not broken — it just needs content. With consistent investment, we can close the gap with competitors in 3-6 months.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0"/>
            <a:ext cx="12192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502920" cy="502920"/>
          </a:xfrm>
          <a:prstGeom prst="rect">
            <a:avLst>
              <a:gd name="adj" fmla="val 9091"/>
            </a:avLst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0116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ready-to-use deliverables (meta tags, schema, community pages, blog posts)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4231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Copy-paste into Sierra Interactive CMS -- can be done this week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971800"/>
            <a:ext cx="502920" cy="502920"/>
          </a:xfrm>
          <a:prstGeom prst="rect">
            <a:avLst>
              <a:gd name="adj" fmla="val 9091"/>
            </a:avLst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29260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Week 1-2 quick wins (10 technical fixes)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337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fixes, alt text, footer cleanup, directory submissions -- 1-2 business days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886200"/>
            <a:ext cx="502920" cy="502920"/>
          </a:xfrm>
          <a:prstGeom prst="rect">
            <a:avLst>
              <a:gd name="adj" fmla="val 9091"/>
            </a:avLst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38404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schema markup site-wide (JSON-LD)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42519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RealEstateAgent, FAQPage, BreadcrumbList, BlogPosting -- highest technical ROI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800600"/>
            <a:ext cx="502920" cy="502920"/>
          </a:xfrm>
          <a:prstGeom prst="rect">
            <a:avLst>
              <a:gd name="adj" fmla="val 9091"/>
            </a:avLst>
          </a:prstGeom>
          <a:solidFill>
            <a:srgbClr val="E9456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63040" y="4754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Month 1 content calendar + internal linking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5166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blog post/week + add 3-5 contextual links to top 20 community pages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5715000"/>
            <a:ext cx="502920" cy="502920"/>
          </a:xfrm>
          <a:prstGeom prst="rect">
            <a:avLst>
              <a:gd name="adj" fmla="val 9091"/>
            </a:avLst>
          </a:prstGeom>
          <a:solidFill>
            <a:srgbClr val="E9456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715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63040" y="56692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progress at 30-day mark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6080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keyword movement, crawl stats, lead capture changes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SEO Audit: gardnergrouprealtors.com</dc:subject>
  <dc:creator>SEO Audit Team</dc:creator>
  <cp:lastModifiedBy>SEO Audit Team</cp:lastModifiedBy>
  <cp:revision>1</cp:revision>
  <dcterms:created xsi:type="dcterms:W3CDTF">2026-03-12T22:30:52Z</dcterms:created>
  <dcterms:modified xsi:type="dcterms:W3CDTF">2026-03-12T22:30:52Z</dcterms:modified>
</cp:coreProperties>
</file>
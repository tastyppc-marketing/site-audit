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12192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Campaign Audit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p3realtync.com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Lisa Johnson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P3RealtyNC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Account: 244-847-6843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Health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743200" cy="32004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GRADE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over-segmentation, duplicate campaigns, 42% out-of-state spend, and only 9% of budget reaching actual service area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$1,665.54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13898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(14 days)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19385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$3,570/mo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858000" y="19568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Pace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5054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2,024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5237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Clicks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307238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3090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CTR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CPC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58000" y="4224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Conversions (Registrations)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47731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$55.52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47914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Registration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5340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58000" y="53583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In-Service-Area Spend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Problem: Lead Quality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0972800" cy="1645920"/>
          </a:xfrm>
          <a:prstGeom prst="rect">
            <a:avLst>
              <a:gd name="adj" fmla="val 5556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$1,665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6616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Deals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235440" y="155448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(0 deals)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9235440" y="2377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Deal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09728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Registration-to-Close Rate: </a:t>
            </a:r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(Industry avg: 2-5%)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campaign is 2 weeks old with DSA + Maximize Clicks + Presence &amp; Interest geo — a combination that optimizes for cheap clicks from anywhere. 42% of spend goes out-of-state, 91% goes outside the service area. The 30 'conversions' are IDX forced registrations, not qualified leads. Budget is pacing at 3.6x the stated target.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Money Goes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188720"/>
                <a:gridCol w="1371600"/>
                <a:gridCol w="13716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Budget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Cost/Conv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Cities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$88.88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$88.88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Underperforming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Cities #2 (duplicate)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$70.73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$70.73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— Pause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Property Features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Performer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Property Features #2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— Pause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Unattributed/Other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$1388.88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$55.56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Investigation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Waste: Irrelevant Search Terms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1371600"/>
          </a:xfrm>
          <a:prstGeom prst="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52-64%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budget wasted on irrelevant queries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3657600" cy="1371600"/>
          </a:xfrm>
          <a:prstGeom prst="rect">
            <a:avLst>
              <a:gd name="adj" fmla="val 6667"/>
            </a:avLst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$665-$815/mo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wasted spend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Wasted Search Queries: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"homes with land for sale in north carolina"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broad — no specific area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04488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8587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"homes for sale in smithfield nc"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0" y="3858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Johnston County — verify if in service area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88536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428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"equine properties for sale near me"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4242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location qualifier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672584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268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"land for sale four oaks nc"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4626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Oaks area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056632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109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sale by owner whispering pines nc"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5010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FSBO — may not want agent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440680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"55 plus homes for sale cary nc"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5394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Cary NC — out of service area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824728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7790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"house for sale arapahoe nc"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5779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Arapahoe — out of area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208776"/>
            <a:ext cx="182880" cy="182880"/>
          </a:xfrm>
          <a:prstGeom prst="rect">
            <a:avLst>
              <a:gd name="adj" fmla="val 10000"/>
            </a:avLst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61630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"gated communities near hendersonville nc"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6163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Hendersonville — 300+ miles away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Performing Ad Groups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1097280"/>
                <a:gridCol w="1371600"/>
                <a:gridCol w="1188720"/>
                <a:gridCol w="11887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Cost/Conv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benson;luxury-homes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volume — monitor for sustainability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moore-county;homes-with-pool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Niche winner — expand pool homes targeting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pinehurst;homes-for-sale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Pinehurst is a strong market — scale this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burgaw;homes-with-acreage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Acreage/land is converting — scale this theme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Property Features (campaign)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$61.95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$20.65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campaign — consolidate budget 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029200"/>
            <a:ext cx="109728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5 ad groups should receive the majority of your budget — shift spend from underperformers.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5: Underperforming Ad Groups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8016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1097280"/>
                <a:gridCol w="1371600"/>
                <a:gridCol w="1188720"/>
                <a:gridCol w="118872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Group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Cost/Conv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topsail-beach;homes-for-sale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spend with 0 conversions — pause or restructure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johnston-county;homes-for-sale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if Johnston Co. is in service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rocky-point;homes-for-sale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CTR but no conversions — check landing page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surf-city;waterfront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Attracting browsers, not buyers — tighten targeting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carthage;homes-for-sale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CTR but 0 conv — small market, low volume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&amp; Match Type Issues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0972800" cy="128016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MATCH CANNIBALIZATION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campaigns with 221 ad groups across a 19-city x 22-feature matrix create massive overlap. Google bids against itself with duplicate campaigns (DS Cities + DS Cities #2 share 100% of ad groups). 286 search terms appeared in both campaign pairs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 Keywords (0 Impressions):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28600" cy="2286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"56 ad groups with 0 impressions"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city;feature combos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228600" cy="2286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"65 near-dead ad groups (1-5 impr)"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city;feature combos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228600" cy="228600"/>
          </a:xfrm>
          <a:prstGeom prst="rect">
            <a:avLst>
              <a:gd name="adj" fmla="val 8000"/>
            </a:avLst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"luxury-homes feature group"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4206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ad groups, 90.4% irrelevant match rate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Extensions: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Sitelink extensions  |  Callout extensions  |  Structured snippet extensions  |  Call extensions  |  Location extensions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Copy: Current vs Recommended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DSA auto-generates ads from site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pulled from IDX search result pages (83% of landing URLs)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691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1965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/property-search/results/ from DSA targeting. Direct DSA to 34 content pages instead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features outperform generic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homes-for-sale ad groups get most spend but lowest conv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33756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337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611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horse-property, acreage, pool, multi-generational niches that actually convert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ad extensions configured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983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257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sitelinks, callouts, structured snippets, or call extensions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4983480"/>
            <a:ext cx="5303520" cy="914400"/>
          </a:xfrm>
          <a:prstGeom prst="rect">
            <a:avLst>
              <a:gd name="adj" fmla="val 5000"/>
            </a:avLst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983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5257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all extension types: Communities, About Lisa, Contact, Featured Listings, Call extension with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Keywords to Add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5029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194560" cy="1828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asheville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charlotte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raleigh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chapel hill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fayetteville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greensboro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1280160"/>
            <a:ext cx="2743200" cy="5029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20440" y="1828800"/>
            <a:ext cx="2194560" cy="18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foreclosure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foreclosed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owned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sale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lien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sheriff sale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expensive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280160"/>
            <a:ext cx="2743200" cy="5029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0" y="1828800"/>
            <a:ext cx="2194560" cy="1828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zillow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realtor.com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redfin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coldwell banker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keller williams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0936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21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berkshire hathaway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06840" y="1280160"/>
            <a:ext cx="2743200" cy="5029200"/>
          </a:xfrm>
          <a:prstGeom prst="rect">
            <a:avLst>
              <a:gd name="adj" fmla="val 3333"/>
            </a:avLst>
          </a:prstGeom>
          <a:solidFill>
            <a:srgbClr val="F5F5F5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Unrelated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81160" y="1828800"/>
            <a:ext cx="2194560" cy="1828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3" name="Text 41"/>
          <p:cNvSpPr/>
          <p:nvPr/>
        </p:nvSpPr>
        <p:spPr>
          <a:xfrm>
            <a:off x="918972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18972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8972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apartment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8972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89720" y="3657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home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189720" y="4069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manufactured home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8972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trailer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89720" y="4892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wide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8972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home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This Week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8229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budget — reduce daily budgets to $16-17/campaign ($33/day total)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 geo-targeting to 'Presence Only' on all campaigns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duplicate campaigns (DS Cities, DS Property Features — keep #2 versions)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100+ negative keywords (geographic, rental, foreclosure, out-of-state)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121 dead/near-dead ad groups (0 impressions or 1-5 impressions)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 luxury-homes ad groups (90.4% irrelevant match rate)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-75% bid adjustment for 1am-5am hours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-30% bid adjustment for desktop devices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-50% bid adjustment for Saturdays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Exclude /property-search/results/ pages from DSA targeting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items are low effort and can be completed in a single Google Ads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Optimization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 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bidding from Maximize Clicks to Maximize Conversions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221 ad groups down to 20-30 focused groups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horse-property, acreage, multi-generational, no-hoa niches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83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sitelinks, callouts, structured snippets, and call extensions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proper conversion tracking (separate IDX registrations from phone calls)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52628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80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converting search terms as explicit page feed entries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029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bids +10% for peak hours (8am-1pm) and Thu/Fri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228600" cy="228600"/>
          </a:xfrm>
          <a:prstGeom prst="rect">
            <a:avLst>
              <a:gd name="adj" fmla="val 8000"/>
            </a:avLst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5778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service area: Does Lisa serve Johnston County and Moore County?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Growth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1-2: Campaign Restructuring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dedicated landing pages for top niches (horse property, acreage, waterfront)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offline conversion imports to track registration → closed deal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Spanish-language landing pages if Lisa wants to serve Hispanic buyers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separate campaigns for coastal (Wilmington area) vs inland (Sandhills/Johnston)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Target CPA bidding once enough conversion history exists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82880" cy="182880"/>
          </a:xfrm>
          <a:prstGeom prst="rect">
            <a:avLst>
              <a:gd name="adj" fmla="val 10000"/>
            </a:avLst>
          </a:prstGeom>
          <a:solidFill>
            <a:srgbClr val="0F346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location-specific ad customizers for each service area city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2-3: Advanced Optimization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182880" cy="182880"/>
          </a:xfrm>
          <a:prstGeom prst="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Performance Max once fundamentals are fixed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182880" cy="182880"/>
          </a:xfrm>
          <a:prstGeom prst="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call-only campaigns for high-intent keywords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989320"/>
            <a:ext cx="182880" cy="182880"/>
          </a:xfrm>
          <a:prstGeom prst="rect">
            <a:avLst>
              <a:gd name="adj" fmla="val 1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speed-to-lead automation (respond within 5 minutes)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Implement All Recommendations: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$55.52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4688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217920" y="246888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5146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Projected: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$25-$40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Quality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94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close rate (2 weeks)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7490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6217920" y="374904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7947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Projected: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2-5% close rate target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Savings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074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</a:t>
            </a:r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5029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217920" y="5029200"/>
            <a:ext cx="4572000" cy="640080"/>
          </a:xfrm>
          <a:prstGeom prst="rect">
            <a:avLst>
              <a:gd name="adj" fmla="val 7143"/>
            </a:avLst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5074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Projected: </a:t>
            </a:r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$665-$815/mo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5852160"/>
            <a:ext cx="10972800" cy="731520"/>
          </a:xfrm>
          <a:prstGeom prst="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fixing geo-targeting (saves $400-460/mo), adding dayparting (-$79/mo), desktop adjustments (-$82/mo), Saturday reduction (-$80/mo), and eliminating irrelevant search terms, we can recover 52-64% of the current budget. At a corrected $1K/mo with proper targeting, the campaign should generate 15-25 quality registrations from actual local buyers.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2192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0116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budget immediately — reduce daily spend to $33/day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pacing at $3,570/month against a $1,000/month target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718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geo-targeting to Presence Only + add 100+ negative keywords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37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42% out-of-state waste and 33.9% irrelevant search term waste in one session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862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duplicate campaigns and 121 dead ad groups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4251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internal competition and cleans up the account 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006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00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4754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Maximize Conversions and add ad extensions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166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for leads, not cheap clicks — add sitelinks, callouts, call extensions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715000"/>
            <a:ext cx="502920" cy="502920"/>
          </a:xfrm>
          <a:prstGeom prst="rect">
            <a:avLst>
              <a:gd name="adj" fmla="val 9091"/>
            </a:avLst>
          </a:prstGeom>
          <a:solidFill>
            <a:srgbClr val="E9456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715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56692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30-day check-in to measure impact of all changes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6080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geographic distribution, CPL trend, conversion quality, search term relevance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PPC Campaign Audit: p3realtync.com</dc:subject>
  <dc:creator>PPC Audit Team</dc:creator>
  <cp:lastModifiedBy>PPC Audit Team</cp:lastModifiedBy>
  <cp:revision>1</cp:revision>
  <dcterms:created xsi:type="dcterms:W3CDTF">2026-03-26T21:10:19Z</dcterms:created>
  <dcterms:modified xsi:type="dcterms:W3CDTF">2026-03-26T21:10:19Z</dcterms:modified>
</cp:coreProperties>
</file>
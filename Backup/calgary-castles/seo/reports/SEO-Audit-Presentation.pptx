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1A2E"/>
          </a:solidFill>
          <a:ln/>
        </p:spPr>
      </p:sp>
      <p:sp>
        <p:nvSpPr>
          <p:cNvPr id="3" name="Shape 1"/>
          <p:cNvSpPr/>
          <p:nvPr/>
        </p:nvSpPr>
        <p:spPr>
          <a:xfrm>
            <a:off x="0" y="2926080"/>
            <a:ext cx="12192000" cy="54864"/>
          </a:xfrm>
          <a:prstGeom prst="rect">
            <a:avLst/>
          </a:prstGeom>
          <a:solidFill>
            <a:srgbClr val="E94560"/>
          </a:solidFill>
          <a:ln/>
        </p:spPr>
      </p:sp>
      <p:sp>
        <p:nvSpPr>
          <p:cNvPr id="4" name="Text 2"/>
          <p:cNvSpPr/>
          <p:nvPr/>
        </p:nvSpPr>
        <p:spPr>
          <a:xfrm>
            <a:off x="731520" y="914400"/>
            <a:ext cx="10058400" cy="109728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SEO Audit &amp; Growth Strategy</a:t>
            </a:r>
            <a:endParaRPr lang="en-US" sz="4000" dirty="0"/>
          </a:p>
        </p:txBody>
      </p:sp>
      <p:sp>
        <p:nvSpPr>
          <p:cNvPr id="5" name="Text 3"/>
          <p:cNvSpPr/>
          <p:nvPr/>
        </p:nvSpPr>
        <p:spPr>
          <a:xfrm>
            <a:off x="731520" y="1920240"/>
            <a:ext cx="10058400" cy="640080"/>
          </a:xfrm>
          <a:prstGeom prst="rect">
            <a:avLst/>
          </a:prstGeom>
          <a:noFill/>
          <a:ln/>
        </p:spPr>
        <p:txBody>
          <a:bodyPr wrap="square" rtlCol="0" anchor="ctr"/>
          <a:lstStyle/>
          <a:p>
            <a:pPr indent="0" marL="0">
              <a:buNone/>
            </a:pPr>
            <a:r>
              <a:rPr lang="en-US" sz="2800" dirty="0">
                <a:solidFill>
                  <a:srgbClr val="E94560"/>
                </a:solidFill>
                <a:latin typeface="Arial" pitchFamily="34" charset="0"/>
                <a:ea typeface="Arial" pitchFamily="34" charset="-122"/>
                <a:cs typeface="Arial" pitchFamily="34" charset="-120"/>
              </a:rPr>
              <a:t>sellingcalgarycastles.com</a:t>
            </a:r>
            <a:endParaRPr lang="en-US" sz="2800" dirty="0"/>
          </a:p>
        </p:txBody>
      </p:sp>
      <p:sp>
        <p:nvSpPr>
          <p:cNvPr id="6" name="Text 4"/>
          <p:cNvSpPr/>
          <p:nvPr/>
        </p:nvSpPr>
        <p:spPr>
          <a:xfrm>
            <a:off x="731520" y="3474720"/>
            <a:ext cx="10058400" cy="457200"/>
          </a:xfrm>
          <a:prstGeom prst="rect">
            <a:avLst/>
          </a:prstGeom>
          <a:noFill/>
          <a:ln/>
        </p:spPr>
        <p:txBody>
          <a:bodyPr wrap="square" rtlCol="0" anchor="ctr"/>
          <a:lstStyle/>
          <a:p>
            <a:pPr indent="0" marL="0">
              <a:buNone/>
            </a:pPr>
            <a:r>
              <a:rPr lang="en-US" sz="1600" dirty="0">
                <a:solidFill>
                  <a:srgbClr val="666666"/>
                </a:solidFill>
                <a:latin typeface="Arial" pitchFamily="34" charset="0"/>
                <a:ea typeface="Arial" pitchFamily="34" charset="-122"/>
                <a:cs typeface="Arial" pitchFamily="34" charset="-120"/>
              </a:rPr>
              <a:t>Prepared for: </a:t>
            </a:r>
            <a:pPr indent="0" marL="0">
              <a:buNone/>
            </a:pPr>
            <a:r>
              <a:rPr lang="en-US" sz="1600" b="1" dirty="0">
                <a:solidFill>
                  <a:srgbClr val="FFFFFF"/>
                </a:solidFill>
                <a:latin typeface="Arial" pitchFamily="34" charset="0"/>
                <a:ea typeface="Arial" pitchFamily="34" charset="-122"/>
                <a:cs typeface="Arial" pitchFamily="34" charset="-120"/>
              </a:rPr>
              <a:t>Neil Rowlandson</a:t>
            </a:r>
            <a:endParaRPr lang="en-US" sz="1600" dirty="0"/>
          </a:p>
        </p:txBody>
      </p:sp>
      <p:sp>
        <p:nvSpPr>
          <p:cNvPr id="7" name="Text 5"/>
          <p:cNvSpPr/>
          <p:nvPr/>
        </p:nvSpPr>
        <p:spPr>
          <a:xfrm>
            <a:off x="731520" y="3931920"/>
            <a:ext cx="100584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Calgary Castles Team</a:t>
            </a:r>
            <a:endParaRPr lang="en-US" sz="1400" dirty="0"/>
          </a:p>
        </p:txBody>
      </p:sp>
      <p:sp>
        <p:nvSpPr>
          <p:cNvPr id="8" name="Text 6"/>
          <p:cNvSpPr/>
          <p:nvPr/>
        </p:nvSpPr>
        <p:spPr>
          <a:xfrm>
            <a:off x="731520" y="4480560"/>
            <a:ext cx="100584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March 31,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Where We Are Today</a:t>
            </a:r>
            <a:endParaRPr lang="en-US" sz="2800" dirty="0"/>
          </a:p>
        </p:txBody>
      </p:sp>
      <p:sp>
        <p:nvSpPr>
          <p:cNvPr id="4" name="Shape 2"/>
          <p:cNvSpPr/>
          <p:nvPr/>
        </p:nvSpPr>
        <p:spPr>
          <a:xfrm>
            <a:off x="457200" y="1371600"/>
            <a:ext cx="2743200" cy="3200400"/>
          </a:xfrm>
          <a:prstGeom prst="rect">
            <a:avLst>
              <a:gd name="adj" fmla="val 3333"/>
            </a:avLst>
          </a:prstGeom>
          <a:solidFill>
            <a:srgbClr val="F5F5F5"/>
          </a:solidFill>
          <a:ln/>
        </p:spPr>
      </p:sp>
      <p:sp>
        <p:nvSpPr>
          <p:cNvPr id="5" name="Text 3"/>
          <p:cNvSpPr/>
          <p:nvPr/>
        </p:nvSpPr>
        <p:spPr>
          <a:xfrm>
            <a:off x="457200" y="1463040"/>
            <a:ext cx="2743200" cy="457200"/>
          </a:xfrm>
          <a:prstGeom prst="rect">
            <a:avLst/>
          </a:prstGeom>
          <a:noFill/>
          <a:ln/>
        </p:spPr>
        <p:txBody>
          <a:bodyPr wrap="square" rtlCol="0" anchor="ctr"/>
          <a:lstStyle/>
          <a:p>
            <a:pPr algn="ctr" indent="0" marL="0">
              <a:buNone/>
            </a:pPr>
            <a:r>
              <a:rPr lang="en-US" sz="1400" b="1" dirty="0">
                <a:solidFill>
                  <a:srgbClr val="666666"/>
                </a:solidFill>
                <a:latin typeface="Arial" pitchFamily="34" charset="0"/>
                <a:ea typeface="Arial" pitchFamily="34" charset="-122"/>
                <a:cs typeface="Arial" pitchFamily="34" charset="-120"/>
              </a:rPr>
              <a:t>OVERALL GRADE</a:t>
            </a:r>
            <a:endParaRPr lang="en-US" sz="1400" dirty="0"/>
          </a:p>
        </p:txBody>
      </p:sp>
      <p:sp>
        <p:nvSpPr>
          <p:cNvPr id="6" name="Text 4"/>
          <p:cNvSpPr/>
          <p:nvPr/>
        </p:nvSpPr>
        <p:spPr>
          <a:xfrm>
            <a:off x="457200" y="2011680"/>
            <a:ext cx="2743200" cy="1828800"/>
          </a:xfrm>
          <a:prstGeom prst="rect">
            <a:avLst/>
          </a:prstGeom>
          <a:noFill/>
          <a:ln/>
        </p:spPr>
        <p:txBody>
          <a:bodyPr wrap="square" rtlCol="0" anchor="ctr"/>
          <a:lstStyle/>
          <a:p>
            <a:pPr algn="ctr" indent="0" marL="0">
              <a:buNone/>
            </a:pPr>
            <a:r>
              <a:rPr lang="en-US" sz="9600" b="1" dirty="0">
                <a:solidFill>
                  <a:srgbClr val="E74C3C"/>
                </a:solidFill>
                <a:latin typeface="Arial" pitchFamily="34" charset="0"/>
                <a:ea typeface="Arial" pitchFamily="34" charset="-122"/>
                <a:cs typeface="Arial" pitchFamily="34" charset="-120"/>
              </a:rPr>
              <a:t>D+</a:t>
            </a:r>
            <a:endParaRPr lang="en-US" sz="9600" dirty="0"/>
          </a:p>
        </p:txBody>
      </p:sp>
      <p:sp>
        <p:nvSpPr>
          <p:cNvPr id="7" name="Text 5"/>
          <p:cNvSpPr/>
          <p:nvPr/>
        </p:nvSpPr>
        <p:spPr>
          <a:xfrm>
            <a:off x="457200" y="3931920"/>
            <a:ext cx="2743200" cy="640080"/>
          </a:xfrm>
          <a:prstGeom prst="rect">
            <a:avLst/>
          </a:prstGeom>
          <a:noFill/>
          <a:ln/>
        </p:spPr>
        <p:txBody>
          <a:bodyPr wrap="square"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sellingcalgarycastles.com has zero organic visibility — not ranking for any of 25 target keywords in a market with 5,500+ active listings and $641K average prices. However, Neil's 20-year real estate track record, banking background, and CIR Realty backing represent significant untapped authority that competitors are not leveraging at this level.</a:t>
            </a:r>
            <a:endParaRPr lang="en-US" sz="1000" dirty="0"/>
          </a:p>
        </p:txBody>
      </p:sp>
      <p:sp>
        <p:nvSpPr>
          <p:cNvPr id="8" name="Text 6"/>
          <p:cNvSpPr/>
          <p:nvPr/>
        </p:nvSpPr>
        <p:spPr>
          <a:xfrm>
            <a:off x="3840480" y="13716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0 / 25</a:t>
            </a:r>
            <a:endParaRPr lang="en-US" sz="2200" dirty="0"/>
          </a:p>
        </p:txBody>
      </p:sp>
      <p:sp>
        <p:nvSpPr>
          <p:cNvPr id="9" name="Text 7"/>
          <p:cNvSpPr/>
          <p:nvPr/>
        </p:nvSpPr>
        <p:spPr>
          <a:xfrm>
            <a:off x="6583680" y="14173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keywords ranking in Google</a:t>
            </a:r>
            <a:endParaRPr lang="en-US" sz="1400" dirty="0"/>
          </a:p>
        </p:txBody>
      </p:sp>
      <p:sp>
        <p:nvSpPr>
          <p:cNvPr id="10" name="Text 8"/>
          <p:cNvSpPr/>
          <p:nvPr/>
        </p:nvSpPr>
        <p:spPr>
          <a:xfrm>
            <a:off x="3840480" y="20574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190,000+/mo</a:t>
            </a:r>
            <a:endParaRPr lang="en-US" sz="2200" dirty="0"/>
          </a:p>
        </p:txBody>
      </p:sp>
      <p:sp>
        <p:nvSpPr>
          <p:cNvPr id="11" name="Text 9"/>
          <p:cNvSpPr/>
          <p:nvPr/>
        </p:nvSpPr>
        <p:spPr>
          <a:xfrm>
            <a:off x="6583680" y="21031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combined search volume for 25 target keywords (client invisible to all)</a:t>
            </a:r>
            <a:endParaRPr lang="en-US" sz="1400" dirty="0"/>
          </a:p>
        </p:txBody>
      </p:sp>
      <p:sp>
        <p:nvSpPr>
          <p:cNvPr id="12" name="Text 10"/>
          <p:cNvSpPr/>
          <p:nvPr/>
        </p:nvSpPr>
        <p:spPr>
          <a:xfrm>
            <a:off x="3840480" y="27432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60,500/mo</a:t>
            </a:r>
            <a:endParaRPr lang="en-US" sz="2200" dirty="0"/>
          </a:p>
        </p:txBody>
      </p:sp>
      <p:sp>
        <p:nvSpPr>
          <p:cNvPr id="13" name="Text 11"/>
          <p:cNvSpPr/>
          <p:nvPr/>
        </p:nvSpPr>
        <p:spPr>
          <a:xfrm>
            <a:off x="6583680" y="27889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search volume for top keyword 'Calgary homes for sale' (client: Not Ranking)</a:t>
            </a:r>
            <a:endParaRPr lang="en-US" sz="1400" dirty="0"/>
          </a:p>
        </p:txBody>
      </p:sp>
      <p:sp>
        <p:nvSpPr>
          <p:cNvPr id="14" name="Text 12"/>
          <p:cNvSpPr/>
          <p:nvPr/>
        </p:nvSpPr>
        <p:spPr>
          <a:xfrm>
            <a:off x="3840480" y="34290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DR 45</a:t>
            </a:r>
            <a:endParaRPr lang="en-US" sz="2200" dirty="0"/>
          </a:p>
        </p:txBody>
      </p:sp>
      <p:sp>
        <p:nvSpPr>
          <p:cNvPr id="15" name="Text 13"/>
          <p:cNvSpPr/>
          <p:nvPr/>
        </p:nvSpPr>
        <p:spPr>
          <a:xfrm>
            <a:off x="6583680" y="34747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domain rating vs. DR 392 for top competitor justinhavre.com (8.7x gap)</a:t>
            </a:r>
            <a:endParaRPr lang="en-US" sz="1400" dirty="0"/>
          </a:p>
        </p:txBody>
      </p:sp>
      <p:sp>
        <p:nvSpPr>
          <p:cNvPr id="16" name="Text 14"/>
          <p:cNvSpPr/>
          <p:nvPr/>
        </p:nvSpPr>
        <p:spPr>
          <a:xfrm>
            <a:off x="3840480" y="41148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209</a:t>
            </a:r>
            <a:endParaRPr lang="en-US" sz="2200" dirty="0"/>
          </a:p>
        </p:txBody>
      </p:sp>
      <p:sp>
        <p:nvSpPr>
          <p:cNvPr id="17" name="Text 15"/>
          <p:cNvSpPr/>
          <p:nvPr/>
        </p:nvSpPr>
        <p:spPr>
          <a:xfrm>
            <a:off x="6583680" y="41605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referring domains vs. 1,162 for justinhavre.com (5.6x gap)</a:t>
            </a:r>
            <a:endParaRPr lang="en-US" sz="1400" dirty="0"/>
          </a:p>
        </p:txBody>
      </p:sp>
      <p:sp>
        <p:nvSpPr>
          <p:cNvPr id="18" name="Text 16"/>
          <p:cNvSpPr/>
          <p:nvPr/>
        </p:nvSpPr>
        <p:spPr>
          <a:xfrm>
            <a:off x="3840480" y="48006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36 pages</a:t>
            </a:r>
            <a:endParaRPr lang="en-US" sz="2200" dirty="0"/>
          </a:p>
        </p:txBody>
      </p:sp>
      <p:sp>
        <p:nvSpPr>
          <p:cNvPr id="19" name="Text 17"/>
          <p:cNvSpPr/>
          <p:nvPr/>
        </p:nvSpPr>
        <p:spPr>
          <a:xfrm>
            <a:off x="6583680" y="48463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vs. competitors' 450-2,500+ (site is 65x behind leader)</a:t>
            </a:r>
            <a:endParaRPr lang="en-US" sz="1400" dirty="0"/>
          </a:p>
        </p:txBody>
      </p:sp>
      <p:sp>
        <p:nvSpPr>
          <p:cNvPr id="20" name="Text 18"/>
          <p:cNvSpPr/>
          <p:nvPr/>
        </p:nvSpPr>
        <p:spPr>
          <a:xfrm>
            <a:off x="3840480" y="54864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0 organic keywords</a:t>
            </a:r>
            <a:endParaRPr lang="en-US" sz="2200" dirty="0"/>
          </a:p>
        </p:txBody>
      </p:sp>
      <p:sp>
        <p:nvSpPr>
          <p:cNvPr id="21" name="Text 19"/>
          <p:cNvSpPr/>
          <p:nvPr/>
        </p:nvSpPr>
        <p:spPr>
          <a:xfrm>
            <a:off x="6583680" y="55321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tracked by DataForSEO vs. 100+ for justinhavre.com</a:t>
            </a:r>
            <a:endParaRPr lang="en-US" sz="1400" dirty="0"/>
          </a:p>
        </p:txBody>
      </p:sp>
      <p:sp>
        <p:nvSpPr>
          <p:cNvPr id="22" name="Text 20"/>
          <p:cNvSpPr/>
          <p:nvPr/>
        </p:nvSpPr>
        <p:spPr>
          <a:xfrm>
            <a:off x="3840480" y="61722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D+ content grade</a:t>
            </a:r>
            <a:endParaRPr lang="en-US" sz="2200" dirty="0"/>
          </a:p>
        </p:txBody>
      </p:sp>
      <p:sp>
        <p:nvSpPr>
          <p:cNvPr id="23" name="Text 21"/>
          <p:cNvSpPr/>
          <p:nvPr/>
        </p:nvSpPr>
        <p:spPr>
          <a:xfrm>
            <a:off x="6583680" y="62179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nearly 100% template content, US-centric info on Calgary site</a:t>
            </a:r>
            <a:endParaRPr lang="en-US" sz="1400" dirty="0"/>
          </a:p>
        </p:txBody>
      </p:sp>
      <p:sp>
        <p:nvSpPr>
          <p:cNvPr id="24" name="Text 22"/>
          <p:cNvSpPr/>
          <p:nvPr/>
        </p:nvSpPr>
        <p:spPr>
          <a:xfrm>
            <a:off x="3840480" y="6858000"/>
            <a:ext cx="2743200" cy="320040"/>
          </a:xfrm>
          <a:prstGeom prst="rect">
            <a:avLst/>
          </a:prstGeom>
          <a:noFill/>
          <a:ln/>
        </p:spPr>
        <p:txBody>
          <a:bodyPr wrap="square" rtlCol="0" anchor="ctr"/>
          <a:lstStyle/>
          <a:p>
            <a:pPr indent="0" marL="0">
              <a:buNone/>
            </a:pPr>
            <a:r>
              <a:rPr lang="en-US" sz="2200" b="1" dirty="0">
                <a:solidFill>
                  <a:srgbClr val="27AE60"/>
                </a:solidFill>
                <a:latin typeface="Arial" pitchFamily="34" charset="0"/>
                <a:ea typeface="Arial" pitchFamily="34" charset="-122"/>
                <a:cs typeface="Arial" pitchFamily="34" charset="-120"/>
              </a:rPr>
              <a:t>79/100 mobile</a:t>
            </a:r>
            <a:endParaRPr lang="en-US" sz="2200" dirty="0"/>
          </a:p>
        </p:txBody>
      </p:sp>
      <p:sp>
        <p:nvSpPr>
          <p:cNvPr id="25" name="Text 23"/>
          <p:cNvSpPr/>
          <p:nvPr/>
        </p:nvSpPr>
        <p:spPr>
          <a:xfrm>
            <a:off x="6583680" y="69037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PageSpeed score (competitive -- better than 3 of 5 competitors)</a:t>
            </a:r>
            <a:endParaRPr lang="en-US" sz="1400" dirty="0"/>
          </a:p>
        </p:txBody>
      </p:sp>
      <p:sp>
        <p:nvSpPr>
          <p:cNvPr id="26" name="Text 24"/>
          <p:cNvSpPr/>
          <p:nvPr/>
        </p:nvSpPr>
        <p:spPr>
          <a:xfrm>
            <a:off x="3840480" y="7543800"/>
            <a:ext cx="2743200" cy="320040"/>
          </a:xfrm>
          <a:prstGeom prst="rect">
            <a:avLst/>
          </a:prstGeom>
          <a:noFill/>
          <a:ln/>
        </p:spPr>
        <p:txBody>
          <a:bodyPr wrap="square" rtlCol="0" anchor="ctr"/>
          <a:lstStyle/>
          <a:p>
            <a:pPr indent="0" marL="0">
              <a:buNone/>
            </a:pPr>
            <a:r>
              <a:rPr lang="en-US" sz="2200" b="1" dirty="0">
                <a:solidFill>
                  <a:srgbClr val="27AE60"/>
                </a:solidFill>
                <a:latin typeface="Arial" pitchFamily="34" charset="0"/>
                <a:ea typeface="Arial" pitchFamily="34" charset="-122"/>
                <a:cs typeface="Arial" pitchFamily="34" charset="-120"/>
              </a:rPr>
              <a:t>95/100 desktop</a:t>
            </a:r>
            <a:endParaRPr lang="en-US" sz="2200" dirty="0"/>
          </a:p>
        </p:txBody>
      </p:sp>
      <p:sp>
        <p:nvSpPr>
          <p:cNvPr id="27" name="Text 25"/>
          <p:cNvSpPr/>
          <p:nvPr/>
        </p:nvSpPr>
        <p:spPr>
          <a:xfrm>
            <a:off x="6583680" y="75895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PageSpeed score (strong -- 2nd only to calgaryhomes.ca at 99)</a:t>
            </a:r>
            <a:endParaRPr lang="en-US" sz="1400" dirty="0"/>
          </a:p>
        </p:txBody>
      </p:sp>
      <p:sp>
        <p:nvSpPr>
          <p:cNvPr id="28" name="Text 26"/>
          <p:cNvSpPr/>
          <p:nvPr/>
        </p:nvSpPr>
        <p:spPr>
          <a:xfrm>
            <a:off x="3840480" y="8229600"/>
            <a:ext cx="2743200" cy="320040"/>
          </a:xfrm>
          <a:prstGeom prst="rect">
            <a:avLst/>
          </a:prstGeom>
          <a:noFill/>
          <a:ln/>
        </p:spPr>
        <p:txBody>
          <a:bodyPr wrap="square" rtlCol="0" anchor="ctr"/>
          <a:lstStyle/>
          <a:p>
            <a:pPr indent="0" marL="0">
              <a:buNone/>
            </a:pPr>
            <a:r>
              <a:rPr lang="en-US" sz="2200" b="1" dirty="0">
                <a:solidFill>
                  <a:srgbClr val="F39C12"/>
                </a:solidFill>
                <a:latin typeface="Arial" pitchFamily="34" charset="0"/>
                <a:ea typeface="Arial" pitchFamily="34" charset="-122"/>
                <a:cs typeface="Arial" pitchFamily="34" charset="-120"/>
              </a:rPr>
              <a:t>4 blog posts</a:t>
            </a:r>
            <a:endParaRPr lang="en-US" sz="2200" dirty="0"/>
          </a:p>
        </p:txBody>
      </p:sp>
      <p:sp>
        <p:nvSpPr>
          <p:cNvPr id="29" name="Text 27"/>
          <p:cNvSpPr/>
          <p:nvPr/>
        </p:nvSpPr>
        <p:spPr>
          <a:xfrm>
            <a:off x="6583680" y="82753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all generic, published same day by 'Sierra System', no Calgary focus</a:t>
            </a:r>
            <a:endParaRPr lang="en-US" sz="1400" dirty="0"/>
          </a:p>
        </p:txBody>
      </p:sp>
      <p:sp>
        <p:nvSpPr>
          <p:cNvPr id="30" name="Text 28"/>
          <p:cNvSpPr/>
          <p:nvPr/>
        </p:nvSpPr>
        <p:spPr>
          <a:xfrm>
            <a:off x="3840480" y="89154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86%</a:t>
            </a:r>
            <a:endParaRPr lang="en-US" sz="2200" dirty="0"/>
          </a:p>
        </p:txBody>
      </p:sp>
      <p:sp>
        <p:nvSpPr>
          <p:cNvPr id="31" name="Text 29"/>
          <p:cNvSpPr/>
          <p:nvPr/>
        </p:nvSpPr>
        <p:spPr>
          <a:xfrm>
            <a:off x="6583680" y="89611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of pages missing schema markup (31 of 36 pages)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Top 5 Critical Issues</a:t>
            </a:r>
            <a:endParaRPr lang="en-US" sz="2800" dirty="0"/>
          </a:p>
        </p:txBody>
      </p:sp>
      <p:sp>
        <p:nvSpPr>
          <p:cNvPr id="4" name="Shape 2"/>
          <p:cNvSpPr/>
          <p:nvPr/>
        </p:nvSpPr>
        <p:spPr>
          <a:xfrm>
            <a:off x="457200" y="1280160"/>
            <a:ext cx="457200" cy="457200"/>
          </a:xfrm>
          <a:prstGeom prst="rect">
            <a:avLst>
              <a:gd name="adj" fmla="val 10000"/>
            </a:avLst>
          </a:prstGeom>
          <a:solidFill>
            <a:srgbClr val="E94560"/>
          </a:solidFill>
          <a:ln/>
        </p:spPr>
      </p:sp>
      <p:sp>
        <p:nvSpPr>
          <p:cNvPr id="5" name="Text 3"/>
          <p:cNvSpPr/>
          <p:nvPr/>
        </p:nvSpPr>
        <p:spPr>
          <a:xfrm>
            <a:off x="457200" y="128016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097280" y="128016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Zero organic search visibility</a:t>
            </a:r>
            <a:endParaRPr lang="en-US" sz="1600" dirty="0"/>
          </a:p>
        </p:txBody>
      </p:sp>
      <p:sp>
        <p:nvSpPr>
          <p:cNvPr id="7" name="Text 5"/>
          <p:cNvSpPr/>
          <p:nvPr/>
        </p:nvSpPr>
        <p:spPr>
          <a:xfrm>
            <a:off x="1097280" y="164592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Not found for any of 25 target keywords — potential clients searching 'Calgary homes for sale,' 'Calgary real estate agent,' etc. will never find this site</a:t>
            </a:r>
            <a:endParaRPr lang="en-US" sz="1200" dirty="0"/>
          </a:p>
        </p:txBody>
      </p:sp>
      <p:sp>
        <p:nvSpPr>
          <p:cNvPr id="8" name="Shape 6"/>
          <p:cNvSpPr/>
          <p:nvPr/>
        </p:nvSpPr>
        <p:spPr>
          <a:xfrm>
            <a:off x="457200" y="2331720"/>
            <a:ext cx="457200" cy="457200"/>
          </a:xfrm>
          <a:prstGeom prst="rect">
            <a:avLst>
              <a:gd name="adj" fmla="val 10000"/>
            </a:avLst>
          </a:prstGeom>
          <a:solidFill>
            <a:srgbClr val="E94560"/>
          </a:solidFill>
          <a:ln/>
        </p:spPr>
      </p:sp>
      <p:sp>
        <p:nvSpPr>
          <p:cNvPr id="9" name="Text 7"/>
          <p:cNvSpPr/>
          <p:nvPr/>
        </p:nvSpPr>
        <p:spPr>
          <a:xfrm>
            <a:off x="457200" y="23317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097280" y="233172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Critically thin content (38 pages vs 2,500+)</a:t>
            </a:r>
            <a:endParaRPr lang="en-US" sz="1600" dirty="0"/>
          </a:p>
        </p:txBody>
      </p:sp>
      <p:sp>
        <p:nvSpPr>
          <p:cNvPr id="11" name="Text 9"/>
          <p:cNvSpPr/>
          <p:nvPr/>
        </p:nvSpPr>
        <p:spPr>
          <a:xfrm>
            <a:off x="1097280" y="269748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Only 38 URLs in sitemap with 4 blog posts; top competitor justinhavre.com has 2,500+ pages with extensive neighborhood silos, market reports, and buyer/seller resources</a:t>
            </a:r>
            <a:endParaRPr lang="en-US" sz="1200" dirty="0"/>
          </a:p>
        </p:txBody>
      </p:sp>
      <p:sp>
        <p:nvSpPr>
          <p:cNvPr id="12" name="Shape 10"/>
          <p:cNvSpPr/>
          <p:nvPr/>
        </p:nvSpPr>
        <p:spPr>
          <a:xfrm>
            <a:off x="457200" y="3383280"/>
            <a:ext cx="457200" cy="457200"/>
          </a:xfrm>
          <a:prstGeom prst="rect">
            <a:avLst>
              <a:gd name="adj" fmla="val 10000"/>
            </a:avLst>
          </a:prstGeom>
          <a:solidFill>
            <a:srgbClr val="E94560"/>
          </a:solidFill>
          <a:ln/>
        </p:spPr>
      </p:sp>
      <p:sp>
        <p:nvSpPr>
          <p:cNvPr id="13" name="Text 11"/>
          <p:cNvSpPr/>
          <p:nvPr/>
        </p:nvSpPr>
        <p:spPr>
          <a:xfrm>
            <a:off x="457200" y="338328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097280" y="338328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No schema markup for core business identity</a:t>
            </a:r>
            <a:endParaRPr lang="en-US" sz="1600" dirty="0"/>
          </a:p>
        </p:txBody>
      </p:sp>
      <p:sp>
        <p:nvSpPr>
          <p:cNvPr id="15" name="Text 13"/>
          <p:cNvSpPr/>
          <p:nvPr/>
        </p:nvSpPr>
        <p:spPr>
          <a:xfrm>
            <a:off x="1097280" y="374904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No RealEstateAgent, LocalBusiness, Person, or FAQ schema — only 5 pages have Event schema for open houses. Every competitor has rich structured data enabling enhanced search results</a:t>
            </a:r>
            <a:endParaRPr lang="en-US" sz="1200" dirty="0"/>
          </a:p>
        </p:txBody>
      </p:sp>
      <p:sp>
        <p:nvSpPr>
          <p:cNvPr id="16" name="Shape 14"/>
          <p:cNvSpPr/>
          <p:nvPr/>
        </p:nvSpPr>
        <p:spPr>
          <a:xfrm>
            <a:off x="457200" y="4434840"/>
            <a:ext cx="457200" cy="457200"/>
          </a:xfrm>
          <a:prstGeom prst="rect">
            <a:avLst>
              <a:gd name="adj" fmla="val 10000"/>
            </a:avLst>
          </a:prstGeom>
          <a:solidFill>
            <a:srgbClr val="E94560"/>
          </a:solidFill>
          <a:ln/>
        </p:spPr>
      </p:sp>
      <p:sp>
        <p:nvSpPr>
          <p:cNvPr id="17" name="Text 15"/>
          <p:cNvSpPr/>
          <p:nvPr/>
        </p:nvSpPr>
        <p:spPr>
          <a:xfrm>
            <a:off x="457200" y="443484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1097280" y="443484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Weak E-E-A-T signals</a:t>
            </a:r>
            <a:endParaRPr lang="en-US" sz="1600" dirty="0"/>
          </a:p>
        </p:txBody>
      </p:sp>
      <p:sp>
        <p:nvSpPr>
          <p:cNvPr id="19" name="Text 17"/>
          <p:cNvSpPr/>
          <p:nvPr/>
        </p:nvSpPr>
        <p:spPr>
          <a:xfrm>
            <a:off x="1097280" y="480060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Neil's 20-year real estate experience and 10-year banking background are barely mentioned on the site. No credentials, certifications, awards, or trust indicators visible to Google</a:t>
            </a:r>
            <a:endParaRPr lang="en-US" sz="1200" dirty="0"/>
          </a:p>
        </p:txBody>
      </p:sp>
      <p:sp>
        <p:nvSpPr>
          <p:cNvPr id="20" name="Shape 18"/>
          <p:cNvSpPr/>
          <p:nvPr/>
        </p:nvSpPr>
        <p:spPr>
          <a:xfrm>
            <a:off x="457200" y="5486400"/>
            <a:ext cx="457200" cy="457200"/>
          </a:xfrm>
          <a:prstGeom prst="rect">
            <a:avLst>
              <a:gd name="adj" fmla="val 10000"/>
            </a:avLst>
          </a:prstGeom>
          <a:solidFill>
            <a:srgbClr val="E94560"/>
          </a:solidFill>
          <a:ln/>
        </p:spPr>
      </p:sp>
      <p:sp>
        <p:nvSpPr>
          <p:cNvPr id="21" name="Text 19"/>
          <p:cNvSpPr/>
          <p:nvPr/>
        </p:nvSpPr>
        <p:spPr>
          <a:xfrm>
            <a:off x="457200" y="548640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2" name="Text 20"/>
          <p:cNvSpPr/>
          <p:nvPr/>
        </p:nvSpPr>
        <p:spPr>
          <a:xfrm>
            <a:off x="1097280" y="548640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No blog or content strategy</a:t>
            </a:r>
            <a:endParaRPr lang="en-US" sz="1600" dirty="0"/>
          </a:p>
        </p:txBody>
      </p:sp>
      <p:sp>
        <p:nvSpPr>
          <p:cNvPr id="23" name="Text 21"/>
          <p:cNvSpPr/>
          <p:nvPr/>
        </p:nvSpPr>
        <p:spPr>
          <a:xfrm>
            <a:off x="1097280" y="585216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Only 4 blog posts, all generic mortgage topics with no Calgary focus. No market reports, neighborhood guides, or seasonal content. justinhavre.com ranks for informational keywords via blog alone</a:t>
            </a:r>
            <a:endParaRPr lang="en-US" sz="1200" dirty="0"/>
          </a:p>
        </p:txBody>
      </p:sp>
      <p:sp>
        <p:nvSpPr>
          <p:cNvPr id="24" name="Shape 22"/>
          <p:cNvSpPr/>
          <p:nvPr/>
        </p:nvSpPr>
        <p:spPr>
          <a:xfrm>
            <a:off x="457200" y="6537960"/>
            <a:ext cx="457200" cy="457200"/>
          </a:xfrm>
          <a:prstGeom prst="rect">
            <a:avLst>
              <a:gd name="adj" fmla="val 10000"/>
            </a:avLst>
          </a:prstGeom>
          <a:solidFill>
            <a:srgbClr val="E94560"/>
          </a:solidFill>
          <a:ln/>
        </p:spPr>
      </p:sp>
      <p:sp>
        <p:nvSpPr>
          <p:cNvPr id="25" name="Text 23"/>
          <p:cNvSpPr/>
          <p:nvPr/>
        </p:nvSpPr>
        <p:spPr>
          <a:xfrm>
            <a:off x="457200" y="653796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6" name="Text 24"/>
          <p:cNvSpPr/>
          <p:nvPr/>
        </p:nvSpPr>
        <p:spPr>
          <a:xfrm>
            <a:off x="1097280" y="653796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No community/neighborhood pages beyond SE Calgary</a:t>
            </a:r>
            <a:endParaRPr lang="en-US" sz="1600" dirty="0"/>
          </a:p>
        </p:txBody>
      </p:sp>
      <p:sp>
        <p:nvSpPr>
          <p:cNvPr id="27" name="Text 25"/>
          <p:cNvSpPr/>
          <p:nvPr/>
        </p:nvSpPr>
        <p:spPr>
          <a:xfrm>
            <a:off x="1097280" y="690372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Only 10 community pages (all SE Calgary). Missing NW, NE, SW quadrants, plus surrounding markets like Cochrane, Chestermere, and Airdrie that competitors dominate</a:t>
            </a:r>
            <a:endParaRPr lang="en-US" sz="1200" dirty="0"/>
          </a:p>
        </p:txBody>
      </p:sp>
      <p:sp>
        <p:nvSpPr>
          <p:cNvPr id="28" name="Shape 26"/>
          <p:cNvSpPr/>
          <p:nvPr/>
        </p:nvSpPr>
        <p:spPr>
          <a:xfrm>
            <a:off x="457200" y="7589520"/>
            <a:ext cx="457200" cy="457200"/>
          </a:xfrm>
          <a:prstGeom prst="rect">
            <a:avLst>
              <a:gd name="adj" fmla="val 10000"/>
            </a:avLst>
          </a:prstGeom>
          <a:solidFill>
            <a:srgbClr val="E94560"/>
          </a:solidFill>
          <a:ln/>
        </p:spPr>
      </p:sp>
      <p:sp>
        <p:nvSpPr>
          <p:cNvPr id="29" name="Text 27"/>
          <p:cNvSpPr/>
          <p:nvPr/>
        </p:nvSpPr>
        <p:spPr>
          <a:xfrm>
            <a:off x="457200" y="75895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30" name="Text 28"/>
          <p:cNvSpPr/>
          <p:nvPr/>
        </p:nvSpPr>
        <p:spPr>
          <a:xfrm>
            <a:off x="1097280" y="758952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Missing or thin meta descriptions on 12+ pages</a:t>
            </a:r>
            <a:endParaRPr lang="en-US" sz="1600" dirty="0"/>
          </a:p>
        </p:txBody>
      </p:sp>
      <p:sp>
        <p:nvSpPr>
          <p:cNvPr id="31" name="Text 29"/>
          <p:cNvSpPr/>
          <p:nvPr/>
        </p:nvSpPr>
        <p:spPr>
          <a:xfrm>
            <a:off x="1097280" y="795528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11 descriptions under 70 characters, 4 blog descriptions over 300 characters (auto-generated), 1 missing entirely. Titles lack Calgary targeting and agent branding</a:t>
            </a:r>
            <a:endParaRPr lang="en-US" sz="1200" dirty="0"/>
          </a:p>
        </p:txBody>
      </p:sp>
      <p:sp>
        <p:nvSpPr>
          <p:cNvPr id="32" name="Shape 30"/>
          <p:cNvSpPr/>
          <p:nvPr/>
        </p:nvSpPr>
        <p:spPr>
          <a:xfrm>
            <a:off x="457200" y="8641080"/>
            <a:ext cx="457200" cy="457200"/>
          </a:xfrm>
          <a:prstGeom prst="rect">
            <a:avLst>
              <a:gd name="adj" fmla="val 10000"/>
            </a:avLst>
          </a:prstGeom>
          <a:solidFill>
            <a:srgbClr val="E94560"/>
          </a:solidFill>
          <a:ln/>
        </p:spPr>
      </p:sp>
      <p:sp>
        <p:nvSpPr>
          <p:cNvPr id="33" name="Text 31"/>
          <p:cNvSpPr/>
          <p:nvPr/>
        </p:nvSpPr>
        <p:spPr>
          <a:xfrm>
            <a:off x="457200" y="864108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8</a:t>
            </a:r>
            <a:endParaRPr lang="en-US" sz="2000" dirty="0"/>
          </a:p>
        </p:txBody>
      </p:sp>
      <p:sp>
        <p:nvSpPr>
          <p:cNvPr id="34" name="Text 32"/>
          <p:cNvSpPr/>
          <p:nvPr/>
        </p:nvSpPr>
        <p:spPr>
          <a:xfrm>
            <a:off x="1097280" y="864108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No lead capture on key pages</a:t>
            </a:r>
            <a:endParaRPr lang="en-US" sz="1600" dirty="0"/>
          </a:p>
        </p:txBody>
      </p:sp>
      <p:sp>
        <p:nvSpPr>
          <p:cNvPr id="35" name="Text 33"/>
          <p:cNvSpPr/>
          <p:nvPr/>
        </p:nvSpPr>
        <p:spPr>
          <a:xfrm>
            <a:off x="1097280" y="900684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Community pages, buyer/seller guides, and blog posts have no contact forms, CTAs, or lead magnets. Competitors use home valuation tools, 'Guaranteed Sold' programs, and forced IDX registration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Search Visibility: 0 of 25 Keywords</a:t>
            </a:r>
            <a:endParaRPr lang="en-US" sz="2800" dirty="0"/>
          </a:p>
        </p:txBody>
      </p:sp>
      <p:sp>
        <p:nvSpPr>
          <p:cNvPr id="4" name="Text 2"/>
          <p:cNvSpPr/>
          <p:nvPr/>
        </p:nvSpPr>
        <p:spPr>
          <a:xfrm>
            <a:off x="457200" y="1188720"/>
            <a:ext cx="10972800" cy="73152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We tested 25 keywords covering brand, type, area, intent, and long-tail terms.</a:t>
            </a:r>
            <a:endParaRPr lang="en-US" sz="1400" dirty="0"/>
          </a:p>
          <a:p>
            <a:pPr indent="0" marL="0">
              <a:buNone/>
            </a:pPr>
            <a:r>
              <a:rPr lang="en-US" sz="1400" dirty="0">
                <a:solidFill>
                  <a:srgbClr val="666666"/>
                </a:solidFill>
                <a:latin typeface="Arial" pitchFamily="34" charset="0"/>
                <a:ea typeface="Arial" pitchFamily="34" charset="-122"/>
                <a:cs typeface="Arial" pitchFamily="34" charset="-120"/>
              </a:rPr>
              <a:t>sellingcalgarycastles.com was NOT found in organic results for any of them.</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0972800" cy="914400"/>
        </p:xfrm>
        <a:graphic>
          <a:graphicData uri="http://schemas.openxmlformats.org/drawingml/2006/table">
            <a:tbl>
              <a:tblPr/>
              <a:tblGrid>
                <a:gridCol w="3200400"/>
                <a:gridCol w="1371600"/>
                <a:gridCol w="1828800"/>
                <a:gridCol w="1828800"/>
                <a:gridCol w="27432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Keyword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Volume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Your Site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Justin Havre &amp; Associates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#1 Result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#3 (calgaryhousefinder.ca)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#5 (calgaryhomes.ca)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realtor.ca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agent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#3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homes for sale Calgary AB</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#10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condos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#3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houses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#3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luxury homes Calgary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#9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market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#7 (justinhavre.com)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wowa.ca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Content Gap</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0972800" cy="914400"/>
        </p:xfrm>
        <a:graphic>
          <a:graphicData uri="http://schemas.openxmlformats.org/drawingml/2006/table">
            <a:tbl>
              <a:tblPr/>
              <a:tblGrid>
                <a:gridCol w="2286000"/>
                <a:gridCol w="1828800"/>
                <a:gridCol w="2286000"/>
                <a:gridCol w="2286000"/>
                <a:gridCol w="22860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Your Site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Justin Havre &amp; Associates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Karen Fawcett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Total Pages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Keywords Found (of 25)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Google Reviews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Limited</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Schema Types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1 (Event)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Blog Presence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4 posts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Platform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RealtyPress/IDX</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Top Competitors Are Doing Right</a:t>
            </a:r>
            <a:endParaRPr lang="en-US" sz="2800" dirty="0"/>
          </a:p>
        </p:txBody>
      </p:sp>
      <p:sp>
        <p:nvSpPr>
          <p:cNvPr id="4" name="Text 2"/>
          <p:cNvSpPr/>
          <p:nvPr/>
        </p:nvSpPr>
        <p:spPr>
          <a:xfrm>
            <a:off x="457200" y="128016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Multi-Domain SEO Empire</a:t>
            </a:r>
            <a:endParaRPr lang="en-US" sz="1400" dirty="0"/>
          </a:p>
        </p:txBody>
      </p:sp>
      <p:sp>
        <p:nvSpPr>
          <p:cNvPr id="5" name="Text 3"/>
          <p:cNvSpPr/>
          <p:nvPr/>
        </p:nvSpPr>
        <p:spPr>
          <a:xfrm>
            <a:off x="2926080" y="128016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Justin Havre operates justinhavre.com AND calgaryhomes.ca + calgary.com, capturing rankings with multiple properties. 2,500+ pages with dedicated silos for every property type, neighborhood, and surrounding community.</a:t>
            </a:r>
            <a:endParaRPr lang="en-US" sz="1100" dirty="0"/>
          </a:p>
        </p:txBody>
      </p:sp>
      <p:sp>
        <p:nvSpPr>
          <p:cNvPr id="6" name="Text 4"/>
          <p:cNvSpPr/>
          <p:nvPr/>
        </p:nvSpPr>
        <p:spPr>
          <a:xfrm>
            <a:off x="457200" y="214884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Content-Driven Authority</a:t>
            </a:r>
            <a:endParaRPr lang="en-US" sz="1400" dirty="0"/>
          </a:p>
        </p:txBody>
      </p:sp>
      <p:sp>
        <p:nvSpPr>
          <p:cNvPr id="7" name="Text 5"/>
          <p:cNvSpPr/>
          <p:nvPr/>
        </p:nvSpPr>
        <p:spPr>
          <a:xfrm>
            <a:off x="2926080" y="214884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Extensive blog targeting informational keywords (market reports, neighborhood guides, relocation content, first-time buyer resources). Blog posts rank for 'Calgary real estate forecast,' 'best neighborhoods Calgary,' and 'Calgary first time home buyer.'</a:t>
            </a:r>
            <a:endParaRPr lang="en-US" sz="1100" dirty="0"/>
          </a:p>
        </p:txBody>
      </p:sp>
      <p:sp>
        <p:nvSpPr>
          <p:cNvPr id="8" name="Text 6"/>
          <p:cNvSpPr/>
          <p:nvPr/>
        </p:nvSpPr>
        <p:spPr>
          <a:xfrm>
            <a:off x="457200" y="301752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Keyword-Rich Domain + Community Silos</a:t>
            </a:r>
            <a:endParaRPr lang="en-US" sz="1400" dirty="0"/>
          </a:p>
        </p:txBody>
      </p:sp>
      <p:sp>
        <p:nvSpPr>
          <p:cNvPr id="9" name="Text 7"/>
          <p:cNvSpPr/>
          <p:nvPr/>
        </p:nvSpPr>
        <p:spPr>
          <a:xfrm>
            <a:off x="2926080" y="301752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calgaryhousefinder.ca leverages a keyword-rich domain with hierarchical URL structure (/calgary-nw/tuscany/) and multi-language support (Chinese, French, Korean) to dominate NW Calgary searches.</a:t>
            </a:r>
            <a:endParaRPr lang="en-US" sz="1100" dirty="0"/>
          </a:p>
        </p:txBody>
      </p:sp>
      <p:sp>
        <p:nvSpPr>
          <p:cNvPr id="10" name="Text 8"/>
          <p:cNvSpPr/>
          <p:nvPr/>
        </p:nvSpPr>
        <p:spPr>
          <a:xfrm>
            <a:off x="457200" y="388620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Review-Powered Social Proof</a:t>
            </a:r>
            <a:endParaRPr lang="en-US" sz="1400" dirty="0"/>
          </a:p>
        </p:txBody>
      </p:sp>
      <p:sp>
        <p:nvSpPr>
          <p:cNvPr id="11" name="Text 9"/>
          <p:cNvSpPr/>
          <p:nvPr/>
        </p:nvSpPr>
        <p:spPr>
          <a:xfrm>
            <a:off x="2926080" y="388620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Reeves &amp; Associates displays 180+ 5-star Google reviews with AggregateRating schema. Combined with monthly market update videos, this builds trust signals Google rewards.</a:t>
            </a:r>
            <a:endParaRPr lang="en-US" sz="1100" dirty="0"/>
          </a:p>
        </p:txBody>
      </p:sp>
      <p:sp>
        <p:nvSpPr>
          <p:cNvPr id="12" name="Text 10"/>
          <p:cNvSpPr/>
          <p:nvPr/>
        </p:nvSpPr>
        <p:spPr>
          <a:xfrm>
            <a:off x="457200" y="475488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Investment Expert Positioning</a:t>
            </a:r>
            <a:endParaRPr lang="en-US" sz="1400" dirty="0"/>
          </a:p>
        </p:txBody>
      </p:sp>
      <p:sp>
        <p:nvSpPr>
          <p:cNvPr id="13" name="Text 11"/>
          <p:cNvSpPr/>
          <p:nvPr/>
        </p:nvSpPr>
        <p:spPr>
          <a:xfrm>
            <a:off x="2926080" y="475488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JD Real Estate targets high-intent long-tail keywords ('Investment Property Calgary 2026,' 'Best Schools in Calgary,' 'Cost of Living 2026') with deep educational content that positions the agent as a financial advisor, not just a realtor.</a:t>
            </a:r>
            <a:endParaRPr lang="en-US" sz="1100" dirty="0"/>
          </a:p>
        </p:txBody>
      </p:sp>
      <p:sp>
        <p:nvSpPr>
          <p:cNvPr id="14" name="Text 12"/>
          <p:cNvSpPr/>
          <p:nvPr/>
        </p:nvSpPr>
        <p:spPr>
          <a:xfrm>
            <a:off x="457200" y="562356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Advanced Lead Magnets</a:t>
            </a:r>
            <a:endParaRPr lang="en-US" sz="1400" dirty="0"/>
          </a:p>
        </p:txBody>
      </p:sp>
      <p:sp>
        <p:nvSpPr>
          <p:cNvPr id="15" name="Text 13"/>
          <p:cNvSpPr/>
          <p:nvPr/>
        </p:nvSpPr>
        <p:spPr>
          <a:xfrm>
            <a:off x="2926080" y="562356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Top competitors go beyond basic contact forms: Justin Havre offers 'Guaranteed Sold' programs and 'Cash Offer' funnels; Reeves uses RealScout property alerts and 'Coming Soon' waitlists; CalgaryHouseFinder forces IDX registration.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Growth Strategy: 4 Pillars</a:t>
            </a:r>
            <a:endParaRPr lang="en-US" sz="2800" dirty="0"/>
          </a:p>
        </p:txBody>
      </p:sp>
      <p:sp>
        <p:nvSpPr>
          <p:cNvPr id="4" name="Shape 2"/>
          <p:cNvSpPr/>
          <p:nvPr/>
        </p:nvSpPr>
        <p:spPr>
          <a:xfrm>
            <a:off x="457200" y="1371600"/>
            <a:ext cx="2651760" cy="4389120"/>
          </a:xfrm>
          <a:prstGeom prst="rect">
            <a:avLst>
              <a:gd name="adj" fmla="val 3448"/>
            </a:avLst>
          </a:prstGeom>
          <a:solidFill>
            <a:srgbClr val="0F3460"/>
          </a:solidFill>
          <a:ln/>
        </p:spPr>
      </p:sp>
      <p:sp>
        <p:nvSpPr>
          <p:cNvPr id="5" name="Text 3"/>
          <p:cNvSpPr/>
          <p:nvPr/>
        </p:nvSpPr>
        <p:spPr>
          <a:xfrm>
            <a:off x="45720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TECHNICAL</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FOUNDATION</a:t>
            </a:r>
            <a:endParaRPr lang="en-US" sz="2000" dirty="0"/>
          </a:p>
        </p:txBody>
      </p:sp>
      <p:sp>
        <p:nvSpPr>
          <p:cNvPr id="6" name="Shape 4"/>
          <p:cNvSpPr/>
          <p:nvPr/>
        </p:nvSpPr>
        <p:spPr>
          <a:xfrm>
            <a:off x="731520" y="2743200"/>
            <a:ext cx="2103120" cy="18288"/>
          </a:xfrm>
          <a:prstGeom prst="rect">
            <a:avLst/>
          </a:prstGeom>
          <a:solidFill>
            <a:srgbClr val="FFFFFF"/>
          </a:solidFill>
          <a:ln/>
        </p:spPr>
      </p:sp>
      <p:sp>
        <p:nvSpPr>
          <p:cNvPr id="7" name="Text 5"/>
          <p:cNvSpPr/>
          <p:nvPr/>
        </p:nvSpPr>
        <p:spPr>
          <a:xfrm>
            <a:off x="64008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Fix schema, meta tags, HSTS,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broken pages, OG tags,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alt text, canonicals</a:t>
            </a:r>
            <a:endParaRPr lang="en-US" sz="1200" dirty="0"/>
          </a:p>
        </p:txBody>
      </p:sp>
      <p:sp>
        <p:nvSpPr>
          <p:cNvPr id="8" name="Text 6"/>
          <p:cNvSpPr/>
          <p:nvPr/>
        </p:nvSpPr>
        <p:spPr>
          <a:xfrm>
            <a:off x="45720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 1-2</a:t>
            </a:r>
            <a:endParaRPr lang="en-US" sz="1300" dirty="0"/>
          </a:p>
        </p:txBody>
      </p:sp>
      <p:sp>
        <p:nvSpPr>
          <p:cNvPr id="9" name="Shape 7"/>
          <p:cNvSpPr/>
          <p:nvPr/>
        </p:nvSpPr>
        <p:spPr>
          <a:xfrm>
            <a:off x="3337560" y="1371600"/>
            <a:ext cx="2651760" cy="4389120"/>
          </a:xfrm>
          <a:prstGeom prst="rect">
            <a:avLst>
              <a:gd name="adj" fmla="val 3448"/>
            </a:avLst>
          </a:prstGeom>
          <a:solidFill>
            <a:srgbClr val="16213E"/>
          </a:solidFill>
          <a:ln/>
        </p:spPr>
      </p:sp>
      <p:sp>
        <p:nvSpPr>
          <p:cNvPr id="10" name="Text 8"/>
          <p:cNvSpPr/>
          <p:nvPr/>
        </p:nvSpPr>
        <p:spPr>
          <a:xfrm>
            <a:off x="333756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CONTENT</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AUTHORITY</a:t>
            </a:r>
            <a:endParaRPr lang="en-US" sz="2000" dirty="0"/>
          </a:p>
        </p:txBody>
      </p:sp>
      <p:sp>
        <p:nvSpPr>
          <p:cNvPr id="11" name="Shape 9"/>
          <p:cNvSpPr/>
          <p:nvPr/>
        </p:nvSpPr>
        <p:spPr>
          <a:xfrm>
            <a:off x="3611880" y="2743200"/>
            <a:ext cx="2103120" cy="18288"/>
          </a:xfrm>
          <a:prstGeom prst="rect">
            <a:avLst/>
          </a:prstGeom>
          <a:solidFill>
            <a:srgbClr val="FFFFFF"/>
          </a:solidFill>
          <a:ln/>
        </p:spPr>
      </p:sp>
      <p:sp>
        <p:nvSpPr>
          <p:cNvPr id="12" name="Text 10"/>
          <p:cNvSpPr/>
          <p:nvPr/>
        </p:nvSpPr>
        <p:spPr>
          <a:xfrm>
            <a:off x="352044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Market reports, blog strategy,</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investment analysis,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relocation guides</a:t>
            </a:r>
            <a:endParaRPr lang="en-US" sz="1200" dirty="0"/>
          </a:p>
        </p:txBody>
      </p:sp>
      <p:sp>
        <p:nvSpPr>
          <p:cNvPr id="13" name="Text 11"/>
          <p:cNvSpPr/>
          <p:nvPr/>
        </p:nvSpPr>
        <p:spPr>
          <a:xfrm>
            <a:off x="333756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Month 1-2</a:t>
            </a:r>
            <a:endParaRPr lang="en-US" sz="1300" dirty="0"/>
          </a:p>
        </p:txBody>
      </p:sp>
      <p:sp>
        <p:nvSpPr>
          <p:cNvPr id="14" name="Shape 12"/>
          <p:cNvSpPr/>
          <p:nvPr/>
        </p:nvSpPr>
        <p:spPr>
          <a:xfrm>
            <a:off x="6217920" y="1371600"/>
            <a:ext cx="2651760" cy="4389120"/>
          </a:xfrm>
          <a:prstGeom prst="rect">
            <a:avLst>
              <a:gd name="adj" fmla="val 3448"/>
            </a:avLst>
          </a:prstGeom>
          <a:solidFill>
            <a:srgbClr val="1A1A2E"/>
          </a:solidFill>
          <a:ln/>
        </p:spPr>
      </p:sp>
      <p:sp>
        <p:nvSpPr>
          <p:cNvPr id="15" name="Text 13"/>
          <p:cNvSpPr/>
          <p:nvPr/>
        </p:nvSpPr>
        <p:spPr>
          <a:xfrm>
            <a:off x="621792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LOCAL</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DOMINANCE</a:t>
            </a:r>
            <a:endParaRPr lang="en-US" sz="2000" dirty="0"/>
          </a:p>
        </p:txBody>
      </p:sp>
      <p:sp>
        <p:nvSpPr>
          <p:cNvPr id="16" name="Shape 14"/>
          <p:cNvSpPr/>
          <p:nvPr/>
        </p:nvSpPr>
        <p:spPr>
          <a:xfrm>
            <a:off x="6492240" y="2743200"/>
            <a:ext cx="2103120" cy="18288"/>
          </a:xfrm>
          <a:prstGeom prst="rect">
            <a:avLst/>
          </a:prstGeom>
          <a:solidFill>
            <a:srgbClr val="FFFFFF"/>
          </a:solidFill>
          <a:ln/>
        </p:spPr>
      </p:sp>
      <p:sp>
        <p:nvSpPr>
          <p:cNvPr id="17" name="Text 15"/>
          <p:cNvSpPr/>
          <p:nvPr/>
        </p:nvSpPr>
        <p:spPr>
          <a:xfrm>
            <a:off x="640080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Community silos, quadrant pages,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surrounding markets,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neighborhood spotlights</a:t>
            </a:r>
            <a:endParaRPr lang="en-US" sz="1200" dirty="0"/>
          </a:p>
        </p:txBody>
      </p:sp>
      <p:sp>
        <p:nvSpPr>
          <p:cNvPr id="18" name="Text 16"/>
          <p:cNvSpPr/>
          <p:nvPr/>
        </p:nvSpPr>
        <p:spPr>
          <a:xfrm>
            <a:off x="621792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Month 2-4</a:t>
            </a:r>
            <a:endParaRPr lang="en-US" sz="1300" dirty="0"/>
          </a:p>
        </p:txBody>
      </p:sp>
      <p:sp>
        <p:nvSpPr>
          <p:cNvPr id="19" name="Shape 17"/>
          <p:cNvSpPr/>
          <p:nvPr/>
        </p:nvSpPr>
        <p:spPr>
          <a:xfrm>
            <a:off x="9098280" y="1371600"/>
            <a:ext cx="2651760" cy="4389120"/>
          </a:xfrm>
          <a:prstGeom prst="rect">
            <a:avLst>
              <a:gd name="adj" fmla="val 3448"/>
            </a:avLst>
          </a:prstGeom>
          <a:solidFill>
            <a:srgbClr val="E94560"/>
          </a:solidFill>
          <a:ln/>
        </p:spPr>
      </p:sp>
      <p:sp>
        <p:nvSpPr>
          <p:cNvPr id="20" name="Text 18"/>
          <p:cNvSpPr/>
          <p:nvPr/>
        </p:nvSpPr>
        <p:spPr>
          <a:xfrm>
            <a:off x="909828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CONVERSION</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&amp; AUTHORITY</a:t>
            </a:r>
            <a:endParaRPr lang="en-US" sz="2000" dirty="0"/>
          </a:p>
        </p:txBody>
      </p:sp>
      <p:sp>
        <p:nvSpPr>
          <p:cNvPr id="21" name="Shape 19"/>
          <p:cNvSpPr/>
          <p:nvPr/>
        </p:nvSpPr>
        <p:spPr>
          <a:xfrm>
            <a:off x="9372600" y="2743200"/>
            <a:ext cx="2103120" cy="18288"/>
          </a:xfrm>
          <a:prstGeom prst="rect">
            <a:avLst/>
          </a:prstGeom>
          <a:solidFill>
            <a:srgbClr val="FFFFFF"/>
          </a:solidFill>
          <a:ln/>
        </p:spPr>
      </p:sp>
      <p:sp>
        <p:nvSpPr>
          <p:cNvPr id="22" name="Text 20"/>
          <p:cNvSpPr/>
          <p:nvPr/>
        </p:nvSpPr>
        <p:spPr>
          <a:xfrm>
            <a:off x="928116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Review campaigns, video content,</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lead magnets, email newsletter,</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local citations &amp; media</a:t>
            </a:r>
            <a:endParaRPr lang="en-US" sz="1200" dirty="0"/>
          </a:p>
        </p:txBody>
      </p:sp>
      <p:sp>
        <p:nvSpPr>
          <p:cNvPr id="23" name="Text 21"/>
          <p:cNvSpPr/>
          <p:nvPr/>
        </p:nvSpPr>
        <p:spPr>
          <a:xfrm>
            <a:off x="909828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Month 4+</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Quick Wins: Week 1-2 (Low Effort, High Impact)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0972800" cy="914400"/>
        </p:xfrm>
        <a:graphic>
          <a:graphicData uri="http://schemas.openxmlformats.org/drawingml/2006/table">
            <a:tbl>
              <a:tblPr/>
              <a:tblGrid>
                <a:gridCol w="457200"/>
                <a:gridCol w="7772400"/>
                <a:gridCol w="1371600"/>
                <a:gridCol w="13716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Impact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Effort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broken /contact/thank-you/ page (403 error) — remove from sitemap or redirect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RealEstateAgent + LocalBusiness JSON-LD schema to all pages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Enable HSTS header via Cloudflare dashboard (one toggle)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Rewrite 6 too-short title tags with Calgary keywords + agent branding</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Rewrite 11 thin meta descriptions (120-155 chars with CTAs)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Truncate 4 auto-generated blog meta descriptions to under 160 characters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Open Graph tags to all 32 non-blog pages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homepage dual H1 — consolidate to single keyword-rich H1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canonical tags to 3 pages missing them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alt text to 23 images (3 homepage, 20 financial glossary)</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/blog/ index page to XML sitemap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Sitemap directive to robots.txt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457200" y="5943600"/>
            <a:ext cx="10972800" cy="365760"/>
          </a:xfrm>
          <a:prstGeom prst="rect">
            <a:avLst/>
          </a:prstGeom>
          <a:noFill/>
          <a:ln/>
        </p:spPr>
        <p:txBody>
          <a:bodyPr wrap="square" rtlCol="0" anchor="ctr"/>
          <a:lstStyle/>
          <a:p>
            <a:pPr indent="0" marL="0">
              <a:buNone/>
            </a:pPr>
            <a:r>
              <a:rPr lang="en-US" sz="1200" b="1" dirty="0">
                <a:solidFill>
                  <a:srgbClr val="27AE60"/>
                </a:solidFill>
                <a:latin typeface="Arial" pitchFamily="34" charset="0"/>
                <a:ea typeface="Arial" pitchFamily="34" charset="-122"/>
                <a:cs typeface="Arial" pitchFamily="34" charset="-120"/>
              </a:rPr>
              <a:t>All 12 items are low effort and can be completed by a developer in 1-2 business days.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Content Strategy: Month 1-2</a:t>
            </a:r>
            <a:endParaRPr lang="en-US" sz="2800" dirty="0"/>
          </a:p>
        </p:txBody>
      </p:sp>
      <p:sp>
        <p:nvSpPr>
          <p:cNvPr id="4" name="Text 2"/>
          <p:cNvSpPr/>
          <p:nvPr/>
        </p:nvSpPr>
        <p:spPr>
          <a:xfrm>
            <a:off x="457200" y="1188720"/>
            <a:ext cx="5486400" cy="457200"/>
          </a:xfrm>
          <a:prstGeom prst="rect">
            <a:avLst/>
          </a:prstGeom>
          <a:noFill/>
          <a:ln/>
        </p:spPr>
        <p:txBody>
          <a:bodyPr wrap="square" rtlCol="0" anchor="ctr"/>
          <a:lstStyle/>
          <a:p>
            <a:pPr indent="0" marL="0">
              <a:buNone/>
            </a:pPr>
            <a:r>
              <a:rPr lang="en-US" sz="1800" b="1" dirty="0">
                <a:solidFill>
                  <a:srgbClr val="1A1A2E"/>
                </a:solidFill>
                <a:latin typeface="Arial" pitchFamily="34" charset="0"/>
                <a:ea typeface="Arial" pitchFamily="34" charset="-122"/>
                <a:cs typeface="Arial" pitchFamily="34" charset="-120"/>
              </a:rPr>
              <a:t>Priority Content Actions</a:t>
            </a:r>
            <a:endParaRPr lang="en-US" sz="1800" dirty="0"/>
          </a:p>
        </p:txBody>
      </p:sp>
      <p:sp>
        <p:nvSpPr>
          <p:cNvPr id="5" name="Shape 3"/>
          <p:cNvSpPr/>
          <p:nvPr/>
        </p:nvSpPr>
        <p:spPr>
          <a:xfrm>
            <a:off x="457200" y="1783080"/>
            <a:ext cx="228600" cy="228600"/>
          </a:xfrm>
          <a:prstGeom prst="rect">
            <a:avLst>
              <a:gd name="adj" fmla="val 8000"/>
            </a:avLst>
          </a:prstGeom>
          <a:solidFill>
            <a:srgbClr val="E94560"/>
          </a:solidFill>
          <a:ln/>
        </p:spPr>
      </p:sp>
      <p:sp>
        <p:nvSpPr>
          <p:cNvPr id="6" name="Text 4"/>
          <p:cNvSpPr/>
          <p:nvPr/>
        </p:nvSpPr>
        <p:spPr>
          <a:xfrm>
            <a:off x="914400" y="1737360"/>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Create Calgary Real Estate Market Report Q1 2026 page</a:t>
            </a:r>
            <a:endParaRPr lang="en-US" sz="1300" dirty="0"/>
          </a:p>
        </p:txBody>
      </p:sp>
      <p:sp>
        <p:nvSpPr>
          <p:cNvPr id="7" name="Shape 5"/>
          <p:cNvSpPr/>
          <p:nvPr/>
        </p:nvSpPr>
        <p:spPr>
          <a:xfrm>
            <a:off x="457200" y="2313432"/>
            <a:ext cx="228600" cy="228600"/>
          </a:xfrm>
          <a:prstGeom prst="rect">
            <a:avLst>
              <a:gd name="adj" fmla="val 8000"/>
            </a:avLst>
          </a:prstGeom>
          <a:solidFill>
            <a:srgbClr val="E94560"/>
          </a:solidFill>
          <a:ln/>
        </p:spPr>
      </p:sp>
      <p:sp>
        <p:nvSpPr>
          <p:cNvPr id="8" name="Text 6"/>
          <p:cNvSpPr/>
          <p:nvPr/>
        </p:nvSpPr>
        <p:spPr>
          <a:xfrm>
            <a:off x="914400" y="2267712"/>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Launch weekly blog with Calgary-specific content (4 posts/month)</a:t>
            </a:r>
            <a:endParaRPr lang="en-US" sz="1300" dirty="0"/>
          </a:p>
        </p:txBody>
      </p:sp>
      <p:sp>
        <p:nvSpPr>
          <p:cNvPr id="9" name="Shape 7"/>
          <p:cNvSpPr/>
          <p:nvPr/>
        </p:nvSpPr>
        <p:spPr>
          <a:xfrm>
            <a:off x="457200" y="2843784"/>
            <a:ext cx="228600" cy="228600"/>
          </a:xfrm>
          <a:prstGeom prst="rect">
            <a:avLst>
              <a:gd name="adj" fmla="val 8000"/>
            </a:avLst>
          </a:prstGeom>
          <a:solidFill>
            <a:srgbClr val="E94560"/>
          </a:solidFill>
          <a:ln/>
        </p:spPr>
      </p:sp>
      <p:sp>
        <p:nvSpPr>
          <p:cNvPr id="10" name="Text 8"/>
          <p:cNvSpPr/>
          <p:nvPr/>
        </p:nvSpPr>
        <p:spPr>
          <a:xfrm>
            <a:off x="914400" y="2798064"/>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Build 'Investment ROI Analysis' page leveraging Neil's banking background</a:t>
            </a:r>
            <a:endParaRPr lang="en-US" sz="1300" dirty="0"/>
          </a:p>
        </p:txBody>
      </p:sp>
      <p:sp>
        <p:nvSpPr>
          <p:cNvPr id="11" name="Shape 9"/>
          <p:cNvSpPr/>
          <p:nvPr/>
        </p:nvSpPr>
        <p:spPr>
          <a:xfrm>
            <a:off x="457200" y="3374136"/>
            <a:ext cx="228600" cy="228600"/>
          </a:xfrm>
          <a:prstGeom prst="rect">
            <a:avLst>
              <a:gd name="adj" fmla="val 8000"/>
            </a:avLst>
          </a:prstGeom>
          <a:solidFill>
            <a:srgbClr val="E94560"/>
          </a:solidFill>
          <a:ln/>
        </p:spPr>
      </p:sp>
      <p:sp>
        <p:nvSpPr>
          <p:cNvPr id="12" name="Text 10"/>
          <p:cNvSpPr/>
          <p:nvPr/>
        </p:nvSpPr>
        <p:spPr>
          <a:xfrm>
            <a:off x="914400" y="3328416"/>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Add contact forms + CTAs to every community page and buyer/seller guide</a:t>
            </a:r>
            <a:endParaRPr lang="en-US" sz="1300" dirty="0"/>
          </a:p>
        </p:txBody>
      </p:sp>
      <p:sp>
        <p:nvSpPr>
          <p:cNvPr id="13" name="Shape 11"/>
          <p:cNvSpPr/>
          <p:nvPr/>
        </p:nvSpPr>
        <p:spPr>
          <a:xfrm>
            <a:off x="457200" y="3904488"/>
            <a:ext cx="228600" cy="228600"/>
          </a:xfrm>
          <a:prstGeom prst="rect">
            <a:avLst>
              <a:gd name="adj" fmla="val 8000"/>
            </a:avLst>
          </a:prstGeom>
          <a:solidFill>
            <a:srgbClr val="E94560"/>
          </a:solidFill>
          <a:ln/>
        </p:spPr>
      </p:sp>
      <p:sp>
        <p:nvSpPr>
          <p:cNvPr id="14" name="Text 12"/>
          <p:cNvSpPr/>
          <p:nvPr/>
        </p:nvSpPr>
        <p:spPr>
          <a:xfrm>
            <a:off x="914400" y="3858768"/>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Rewrite About page to showcase 20yr experience, banking background, CIR Realty, and Lakeview roots</a:t>
            </a:r>
            <a:endParaRPr lang="en-US" sz="1300" dirty="0"/>
          </a:p>
        </p:txBody>
      </p:sp>
      <p:sp>
        <p:nvSpPr>
          <p:cNvPr id="15" name="Shape 13"/>
          <p:cNvSpPr/>
          <p:nvPr/>
        </p:nvSpPr>
        <p:spPr>
          <a:xfrm>
            <a:off x="457200" y="4434840"/>
            <a:ext cx="228600" cy="228600"/>
          </a:xfrm>
          <a:prstGeom prst="rect">
            <a:avLst>
              <a:gd name="adj" fmla="val 8000"/>
            </a:avLst>
          </a:prstGeom>
          <a:solidFill>
            <a:srgbClr val="E94560"/>
          </a:solidFill>
          <a:ln/>
        </p:spPr>
      </p:sp>
      <p:sp>
        <p:nvSpPr>
          <p:cNvPr id="16" name="Text 14"/>
          <p:cNvSpPr/>
          <p:nvPr/>
        </p:nvSpPr>
        <p:spPr>
          <a:xfrm>
            <a:off x="914400" y="4389120"/>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Create testimonials/reviews page and begin Google Review acquisition campaign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Blog Content Calendar: Next 3 Months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11612880" cy="914400"/>
        </p:xfrm>
        <a:graphic>
          <a:graphicData uri="http://schemas.openxmlformats.org/drawingml/2006/table">
            <a:tbl>
              <a:tblPr/>
              <a:tblGrid>
                <a:gridCol w="914400"/>
                <a:gridCol w="4572000"/>
                <a:gridCol w="3200400"/>
                <a:gridCol w="15544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Week</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Topic</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Keyword Target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Type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1: Establish Calgary Market Authority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Market Report Q1 2026: Average $641K, What It Means for Buyers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market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Market Report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Best Neighborhoods in Calgary to Buy a Home in 2026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best neighborhoods Calgary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Is Calgary Real Estate a Good Investment? A Banker-Turned-Realtor's Analysis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investment property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Investment Analysis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Home Prices 2026: What the Data Shows and Where Prices Are Headed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home prices 2026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Market Analysis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2: Build Depth &amp; Capture Buyers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Moving to Calgary from Ontario or BC? Your Complete 2026 Relocation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moving to Calgary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Relocation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Luxury Homes: The Complete Guide to $1M+ Properties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luxury homes Calgary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Property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vs Edmonton Real Estate: Which City Offers Better Value in 2026?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vs Edmonton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Comparison</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First-Time Home Buyer in Calgary: Programs, Down Payments, and What to Expect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first time home buyer</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Buyer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3: Expand Reach &amp; Surrounding Markets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Forecast: Q2 2026 Market Update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real estate forecast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Market Report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Cochrane vs Chestermere: Calgary's Best Satellite Communities Compared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Cochrane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Area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Condo Market Guide: Best Buildings, Prices, and Investment Potential</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Calgary condos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Property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Lakeview Calgary: A Local's Guide to One of Calgary's Best-Kept Secrets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Lakeview Calgary homes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Neighborhood Spotlight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Ready-to-Deploy: What We've Already Built</a:t>
            </a:r>
            <a:endParaRPr lang="en-US" sz="2800" dirty="0"/>
          </a:p>
        </p:txBody>
      </p:sp>
      <p:sp>
        <p:nvSpPr>
          <p:cNvPr id="4" name="Text 2"/>
          <p:cNvSpPr/>
          <p:nvPr/>
        </p:nvSpPr>
        <p:spPr>
          <a:xfrm>
            <a:off x="457200" y="1188720"/>
            <a:ext cx="10972800" cy="45720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These deliverables were created as part of this audit and are ready for implementation today.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0972800" cy="914400"/>
        </p:xfrm>
        <a:graphic>
          <a:graphicData uri="http://schemas.openxmlformats.org/drawingml/2006/table">
            <a:tbl>
              <a:tblPr/>
              <a:tblGrid>
                <a:gridCol w="3200400"/>
                <a:gridCol w="2286000"/>
                <a:gridCol w="1828800"/>
                <a:gridCol w="365760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Deliverable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Scope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Score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Meta Titles &amp; Descriptions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All 36 pages rewritten</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Pending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Ready to generate — titles need Calgary + branding, descriptions need CTAs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Schema Markup (JSON-LD)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RealEstateAgent, LocalBusiness, Person, BreadcrumbList, FAQPage, BlogPosting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Pending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Ready to generate — 6 schema types across all page categories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Key Pages (expanded content)</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About page rewrite, Market Report, Investment Guide, Relocation Guide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Pending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Priority content pieces leveraging Neil's unique background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Blog Posts (SEO-optimized)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12 posts (Month 1-3 content calendar)</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Pending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Topics and keywords mapped — ready to write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4114800"/>
            <a:ext cx="5486400" cy="365760"/>
          </a:xfrm>
          <a:prstGeom prst="rect">
            <a:avLst/>
          </a:prstGeom>
          <a:noFill/>
          <a:ln/>
        </p:spPr>
        <p:txBody>
          <a:bodyPr wrap="square" rtlCol="0" anchor="ctr"/>
          <a:lstStyle/>
          <a:p>
            <a:pPr indent="0" marL="0">
              <a:buNone/>
            </a:pPr>
            <a:r>
              <a:rPr lang="en-US" sz="1400" b="1" dirty="0">
                <a:solidFill>
                  <a:srgbClr val="1A1A2E"/>
                </a:solidFill>
                <a:latin typeface="Arial" pitchFamily="34" charset="0"/>
                <a:ea typeface="Arial" pitchFamily="34" charset="-122"/>
                <a:cs typeface="Arial" pitchFamily="34" charset="-120"/>
              </a:rPr>
              <a:t>Key Pages Created:</a:t>
            </a:r>
            <a:endParaRPr lang="en-US" sz="1400" dirty="0"/>
          </a:p>
        </p:txBody>
      </p:sp>
      <p:sp>
        <p:nvSpPr>
          <p:cNvPr id="7" name="Text 4"/>
          <p:cNvSpPr/>
          <p:nvPr/>
        </p:nvSpPr>
        <p:spPr>
          <a:xfrm>
            <a:off x="457200" y="4480560"/>
            <a:ext cx="10972800" cy="365760"/>
          </a:xfrm>
          <a:prstGeom prst="rect">
            <a:avLst/>
          </a:prstGeom>
          <a:noFill/>
          <a:ln/>
        </p:spPr>
        <p:txBody>
          <a:bodyPr wrap="square" rtlCol="0" anchor="ctr"/>
          <a:lstStyle/>
          <a:p>
            <a:pPr indent="0" marL="0">
              <a:buNone/>
            </a:pPr>
            <a:r>
              <a:rPr lang="en-US" sz="1300" dirty="0">
                <a:solidFill>
                  <a:srgbClr val="0F3460"/>
                </a:solidFill>
                <a:latin typeface="Arial" pitchFamily="34" charset="0"/>
                <a:ea typeface="Arial" pitchFamily="34" charset="-122"/>
                <a:cs typeface="Arial" pitchFamily="34" charset="-120"/>
              </a:rPr>
              <a:t>Calgary Real Estate Market Report Q1 2026  |  Moving to Calgary: Complete Relocation Guide  |  Calgary Investment Property ROI Analysis  |  About Neil Rowlandson — 20 Years Calgary Real Estate</a:t>
            </a:r>
            <a:endParaRPr lang="en-US" sz="1300" dirty="0"/>
          </a:p>
        </p:txBody>
      </p:sp>
      <p:sp>
        <p:nvSpPr>
          <p:cNvPr id="8" name="Text 5"/>
          <p:cNvSpPr/>
          <p:nvPr/>
        </p:nvSpPr>
        <p:spPr>
          <a:xfrm>
            <a:off x="457200" y="5029200"/>
            <a:ext cx="5486400" cy="365760"/>
          </a:xfrm>
          <a:prstGeom prst="rect">
            <a:avLst/>
          </a:prstGeom>
          <a:noFill/>
          <a:ln/>
        </p:spPr>
        <p:txBody>
          <a:bodyPr wrap="square" rtlCol="0" anchor="ctr"/>
          <a:lstStyle/>
          <a:p>
            <a:pPr indent="0" marL="0">
              <a:buNone/>
            </a:pPr>
            <a:r>
              <a:rPr lang="en-US" sz="1400" b="1" dirty="0">
                <a:solidFill>
                  <a:srgbClr val="1A1A2E"/>
                </a:solidFill>
                <a:latin typeface="Arial" pitchFamily="34" charset="0"/>
                <a:ea typeface="Arial" pitchFamily="34" charset="-122"/>
                <a:cs typeface="Arial" pitchFamily="34" charset="-120"/>
              </a:rPr>
              <a:t>Blog Posts Created:</a:t>
            </a:r>
            <a:endParaRPr lang="en-US" sz="1400" dirty="0"/>
          </a:p>
        </p:txBody>
      </p:sp>
      <p:sp>
        <p:nvSpPr>
          <p:cNvPr id="9" name="Text 6"/>
          <p:cNvSpPr/>
          <p:nvPr/>
        </p:nvSpPr>
        <p:spPr>
          <a:xfrm>
            <a:off x="457200" y="5394960"/>
            <a:ext cx="10972800" cy="365760"/>
          </a:xfrm>
          <a:prstGeom prst="rect">
            <a:avLst/>
          </a:prstGeom>
          <a:noFill/>
          <a:ln/>
        </p:spPr>
        <p:txBody>
          <a:bodyPr wrap="square" rtlCol="0" anchor="ctr"/>
          <a:lstStyle/>
          <a:p>
            <a:pPr indent="0" marL="0">
              <a:buNone/>
            </a:pPr>
            <a:r>
              <a:rPr lang="en-US" sz="1300" dirty="0">
                <a:solidFill>
                  <a:srgbClr val="0F3460"/>
                </a:solidFill>
                <a:latin typeface="Arial" pitchFamily="34" charset="0"/>
                <a:ea typeface="Arial" pitchFamily="34" charset="-122"/>
                <a:cs typeface="Arial" pitchFamily="34" charset="-120"/>
              </a:rPr>
              <a:t>Best Neighborhoods in Calgary to Buy a Home in 2026  |  Is Calgary Real Estate a Good Investment? A Banker's Analysis  |  Calgary Home Prices 2026: Data-Driven Forecast  |  First-Time Home Buyer in Calgary: Complete Guide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Medium-Term Roadmap: Month 2-4</a:t>
            </a:r>
            <a:endParaRPr lang="en-US" sz="2800" dirty="0"/>
          </a:p>
        </p:txBody>
      </p:sp>
      <p:sp>
        <p:nvSpPr>
          <p:cNvPr id="4" name="Shape 2"/>
          <p:cNvSpPr/>
          <p:nvPr/>
        </p:nvSpPr>
        <p:spPr>
          <a:xfrm>
            <a:off x="457200" y="1280160"/>
            <a:ext cx="182880" cy="182880"/>
          </a:xfrm>
          <a:prstGeom prst="rect">
            <a:avLst>
              <a:gd name="adj" fmla="val 10000"/>
            </a:avLst>
          </a:prstGeom>
          <a:solidFill>
            <a:srgbClr val="0F3460"/>
          </a:solidFill>
          <a:ln/>
        </p:spPr>
      </p:sp>
      <p:sp>
        <p:nvSpPr>
          <p:cNvPr id="5" name="Text 3"/>
          <p:cNvSpPr/>
          <p:nvPr/>
        </p:nvSpPr>
        <p:spPr>
          <a:xfrm>
            <a:off x="822960" y="123444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Calgary Quadrant Community Silos</a:t>
            </a:r>
            <a:endParaRPr lang="en-US" sz="1300" dirty="0"/>
          </a:p>
        </p:txBody>
      </p:sp>
      <p:sp>
        <p:nvSpPr>
          <p:cNvPr id="6" name="Text 4"/>
          <p:cNvSpPr/>
          <p:nvPr/>
        </p:nvSpPr>
        <p:spPr>
          <a:xfrm>
            <a:off x="3931920" y="123444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Build NW, NE, SW pages with hierarchical /quadrant/community/ URLs matching competitor structure. 20+ new pages targeting 'homes for sale in [community]' keywords.</a:t>
            </a:r>
            <a:endParaRPr lang="en-US" sz="1200" dirty="0"/>
          </a:p>
        </p:txBody>
      </p:sp>
      <p:sp>
        <p:nvSpPr>
          <p:cNvPr id="7" name="Shape 5"/>
          <p:cNvSpPr/>
          <p:nvPr/>
        </p:nvSpPr>
        <p:spPr>
          <a:xfrm>
            <a:off x="457200" y="1874520"/>
            <a:ext cx="182880" cy="182880"/>
          </a:xfrm>
          <a:prstGeom prst="rect">
            <a:avLst>
              <a:gd name="adj" fmla="val 10000"/>
            </a:avLst>
          </a:prstGeom>
          <a:solidFill>
            <a:srgbClr val="0F3460"/>
          </a:solidFill>
          <a:ln/>
        </p:spPr>
      </p:sp>
      <p:sp>
        <p:nvSpPr>
          <p:cNvPr id="8" name="Text 6"/>
          <p:cNvSpPr/>
          <p:nvPr/>
        </p:nvSpPr>
        <p:spPr>
          <a:xfrm>
            <a:off x="822960" y="182880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Property Type Landing Pages</a:t>
            </a:r>
            <a:endParaRPr lang="en-US" sz="1300" dirty="0"/>
          </a:p>
        </p:txBody>
      </p:sp>
      <p:sp>
        <p:nvSpPr>
          <p:cNvPr id="9" name="Text 7"/>
          <p:cNvSpPr/>
          <p:nvPr/>
        </p:nvSpPr>
        <p:spPr>
          <a:xfrm>
            <a:off x="3931920" y="182880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Dedicated pages for condos, townhouses, luxury ($1M+), new construction, and investment properties — each a keyword gap today.</a:t>
            </a:r>
            <a:endParaRPr lang="en-US" sz="1200" dirty="0"/>
          </a:p>
        </p:txBody>
      </p:sp>
      <p:sp>
        <p:nvSpPr>
          <p:cNvPr id="10" name="Shape 8"/>
          <p:cNvSpPr/>
          <p:nvPr/>
        </p:nvSpPr>
        <p:spPr>
          <a:xfrm>
            <a:off x="457200" y="2468880"/>
            <a:ext cx="182880" cy="182880"/>
          </a:xfrm>
          <a:prstGeom prst="rect">
            <a:avLst>
              <a:gd name="adj" fmla="val 10000"/>
            </a:avLst>
          </a:prstGeom>
          <a:solidFill>
            <a:srgbClr val="0F3460"/>
          </a:solidFill>
          <a:ln/>
        </p:spPr>
      </p:sp>
      <p:sp>
        <p:nvSpPr>
          <p:cNvPr id="11" name="Text 9"/>
          <p:cNvSpPr/>
          <p:nvPr/>
        </p:nvSpPr>
        <p:spPr>
          <a:xfrm>
            <a:off x="822960" y="242316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Moving to Calgary Relocation Hub</a:t>
            </a:r>
            <a:endParaRPr lang="en-US" sz="1300" dirty="0"/>
          </a:p>
        </p:txBody>
      </p:sp>
      <p:sp>
        <p:nvSpPr>
          <p:cNvPr id="12" name="Text 10"/>
          <p:cNvSpPr/>
          <p:nvPr/>
        </p:nvSpPr>
        <p:spPr>
          <a:xfrm>
            <a:off x="3931920" y="242316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2,000+ word guide targeting Ontario/BC migration trend with cost of living, neighborhoods, schools, climate, and lifestyle content.</a:t>
            </a:r>
            <a:endParaRPr lang="en-US" sz="1200" dirty="0"/>
          </a:p>
        </p:txBody>
      </p:sp>
      <p:sp>
        <p:nvSpPr>
          <p:cNvPr id="13" name="Shape 11"/>
          <p:cNvSpPr/>
          <p:nvPr/>
        </p:nvSpPr>
        <p:spPr>
          <a:xfrm>
            <a:off x="457200" y="3063240"/>
            <a:ext cx="182880" cy="182880"/>
          </a:xfrm>
          <a:prstGeom prst="rect">
            <a:avLst>
              <a:gd name="adj" fmla="val 10000"/>
            </a:avLst>
          </a:prstGeom>
          <a:solidFill>
            <a:srgbClr val="0F3460"/>
          </a:solidFill>
          <a:ln/>
        </p:spPr>
      </p:sp>
      <p:sp>
        <p:nvSpPr>
          <p:cNvPr id="14" name="Text 12"/>
          <p:cNvSpPr/>
          <p:nvPr/>
        </p:nvSpPr>
        <p:spPr>
          <a:xfrm>
            <a:off x="822960" y="301752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Surrounding Markets Section</a:t>
            </a:r>
            <a:endParaRPr lang="en-US" sz="1300" dirty="0"/>
          </a:p>
        </p:txBody>
      </p:sp>
      <p:sp>
        <p:nvSpPr>
          <p:cNvPr id="15" name="Text 13"/>
          <p:cNvSpPr/>
          <p:nvPr/>
        </p:nvSpPr>
        <p:spPr>
          <a:xfrm>
            <a:off x="3931920" y="301752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Cochrane, Chestermere, Airdrie, Okotoks pages. Lower competition than Calgary proper; Havre ranks #2-3 but there's room to compete.</a:t>
            </a:r>
            <a:endParaRPr lang="en-US" sz="1200" dirty="0"/>
          </a:p>
        </p:txBody>
      </p:sp>
      <p:sp>
        <p:nvSpPr>
          <p:cNvPr id="16" name="Shape 14"/>
          <p:cNvSpPr/>
          <p:nvPr/>
        </p:nvSpPr>
        <p:spPr>
          <a:xfrm>
            <a:off x="457200" y="3657600"/>
            <a:ext cx="182880" cy="182880"/>
          </a:xfrm>
          <a:prstGeom prst="rect">
            <a:avLst>
              <a:gd name="adj" fmla="val 10000"/>
            </a:avLst>
          </a:prstGeom>
          <a:solidFill>
            <a:srgbClr val="0F3460"/>
          </a:solidFill>
          <a:ln/>
        </p:spPr>
      </p:sp>
      <p:sp>
        <p:nvSpPr>
          <p:cNvPr id="17" name="Text 15"/>
          <p:cNvSpPr/>
          <p:nvPr/>
        </p:nvSpPr>
        <p:spPr>
          <a:xfrm>
            <a:off x="822960" y="361188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Investment ROI Analysis Tool</a:t>
            </a:r>
            <a:endParaRPr lang="en-US" sz="1300" dirty="0"/>
          </a:p>
        </p:txBody>
      </p:sp>
      <p:sp>
        <p:nvSpPr>
          <p:cNvPr id="18" name="Text 16"/>
          <p:cNvSpPr/>
          <p:nvPr/>
        </p:nvSpPr>
        <p:spPr>
          <a:xfrm>
            <a:off x="3931920" y="361188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Leverage Neil's banking background to create an interactive calculator or detailed guide on Calgary rental yields, cap rates, and appreciation data.</a:t>
            </a:r>
            <a:endParaRPr lang="en-US" sz="1200" dirty="0"/>
          </a:p>
        </p:txBody>
      </p:sp>
      <p:sp>
        <p:nvSpPr>
          <p:cNvPr id="19" name="Shape 17"/>
          <p:cNvSpPr/>
          <p:nvPr/>
        </p:nvSpPr>
        <p:spPr>
          <a:xfrm>
            <a:off x="457200" y="4251960"/>
            <a:ext cx="182880" cy="182880"/>
          </a:xfrm>
          <a:prstGeom prst="rect">
            <a:avLst>
              <a:gd name="adj" fmla="val 10000"/>
            </a:avLst>
          </a:prstGeom>
          <a:solidFill>
            <a:srgbClr val="0F3460"/>
          </a:solidFill>
          <a:ln/>
        </p:spPr>
      </p:sp>
      <p:sp>
        <p:nvSpPr>
          <p:cNvPr id="20" name="Text 18"/>
          <p:cNvSpPr/>
          <p:nvPr/>
        </p:nvSpPr>
        <p:spPr>
          <a:xfrm>
            <a:off x="822960" y="420624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FAQ Schema on All Key Pages</a:t>
            </a:r>
            <a:endParaRPr lang="en-US" sz="1300" dirty="0"/>
          </a:p>
        </p:txBody>
      </p:sp>
      <p:sp>
        <p:nvSpPr>
          <p:cNvPr id="21" name="Text 19"/>
          <p:cNvSpPr/>
          <p:nvPr/>
        </p:nvSpPr>
        <p:spPr>
          <a:xfrm>
            <a:off x="3931920" y="420624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Use 'People Also Ask' data from keyword research to create FAQ sections. Generates rich snippets and positions content for AI Overview citations.</a:t>
            </a:r>
            <a:endParaRPr lang="en-US" sz="1200" dirty="0"/>
          </a:p>
        </p:txBody>
      </p:sp>
      <p:sp>
        <p:nvSpPr>
          <p:cNvPr id="22" name="Shape 20"/>
          <p:cNvSpPr/>
          <p:nvPr/>
        </p:nvSpPr>
        <p:spPr>
          <a:xfrm>
            <a:off x="457200" y="4846320"/>
            <a:ext cx="182880" cy="182880"/>
          </a:xfrm>
          <a:prstGeom prst="rect">
            <a:avLst>
              <a:gd name="adj" fmla="val 10000"/>
            </a:avLst>
          </a:prstGeom>
          <a:solidFill>
            <a:srgbClr val="0F3460"/>
          </a:solidFill>
          <a:ln/>
        </p:spPr>
      </p:sp>
      <p:sp>
        <p:nvSpPr>
          <p:cNvPr id="23" name="Text 21"/>
          <p:cNvSpPr/>
          <p:nvPr/>
        </p:nvSpPr>
        <p:spPr>
          <a:xfrm>
            <a:off x="822960" y="480060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Internal Linking Overhaul</a:t>
            </a:r>
            <a:endParaRPr lang="en-US" sz="1300" dirty="0"/>
          </a:p>
        </p:txBody>
      </p:sp>
      <p:sp>
        <p:nvSpPr>
          <p:cNvPr id="24" name="Text 22"/>
          <p:cNvSpPr/>
          <p:nvPr/>
        </p:nvSpPr>
        <p:spPr>
          <a:xfrm>
            <a:off x="3931920" y="480060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Community-to-community cross-links, progressive buyer/seller guide flow, blog-to-page-to-conversion contextual links replacing navigation-only structure.</a:t>
            </a:r>
            <a:endParaRPr lang="en-US" sz="1200" dirty="0"/>
          </a:p>
        </p:txBody>
      </p:sp>
      <p:sp>
        <p:nvSpPr>
          <p:cNvPr id="25" name="Shape 23"/>
          <p:cNvSpPr/>
          <p:nvPr/>
        </p:nvSpPr>
        <p:spPr>
          <a:xfrm>
            <a:off x="457200" y="5440680"/>
            <a:ext cx="182880" cy="182880"/>
          </a:xfrm>
          <a:prstGeom prst="rect">
            <a:avLst>
              <a:gd name="adj" fmla="val 10000"/>
            </a:avLst>
          </a:prstGeom>
          <a:solidFill>
            <a:srgbClr val="0F3460"/>
          </a:solidFill>
          <a:ln/>
        </p:spPr>
      </p:sp>
      <p:sp>
        <p:nvSpPr>
          <p:cNvPr id="26" name="Text 24"/>
          <p:cNvSpPr/>
          <p:nvPr/>
        </p:nvSpPr>
        <p:spPr>
          <a:xfrm>
            <a:off x="822960" y="539496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Quarterly Market Reports (Evergreen URLs)</a:t>
            </a:r>
            <a:endParaRPr lang="en-US" sz="1300" dirty="0"/>
          </a:p>
        </p:txBody>
      </p:sp>
      <p:sp>
        <p:nvSpPr>
          <p:cNvPr id="27" name="Text 25"/>
          <p:cNvSpPr/>
          <p:nvPr/>
        </p:nvSpPr>
        <p:spPr>
          <a:xfrm>
            <a:off x="3931920" y="539496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Single URL updated quarterly with latest CREB stats. Earns backlinks and establishes Neil as the data source for Calgary market info.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Long-Term Strategy: Month 4+</a:t>
            </a:r>
            <a:endParaRPr lang="en-US" sz="2800" dirty="0"/>
          </a:p>
        </p:txBody>
      </p:sp>
      <p:sp>
        <p:nvSpPr>
          <p:cNvPr id="4" name="Shape 2"/>
          <p:cNvSpPr/>
          <p:nvPr/>
        </p:nvSpPr>
        <p:spPr>
          <a:xfrm>
            <a:off x="365760" y="1280160"/>
            <a:ext cx="2743200" cy="4937760"/>
          </a:xfrm>
          <a:prstGeom prst="rect">
            <a:avLst>
              <a:gd name="adj" fmla="val 3333"/>
            </a:avLst>
          </a:prstGeom>
          <a:solidFill>
            <a:srgbClr val="F5F5F5"/>
          </a:solidFill>
          <a:ln/>
        </p:spPr>
      </p:sp>
      <p:sp>
        <p:nvSpPr>
          <p:cNvPr id="5" name="Text 3"/>
          <p:cNvSpPr/>
          <p:nvPr/>
        </p:nvSpPr>
        <p:spPr>
          <a:xfrm>
            <a:off x="36576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Content Authority</a:t>
            </a:r>
            <a:endParaRPr lang="en-US" sz="1500" dirty="0"/>
          </a:p>
        </p:txBody>
      </p:sp>
      <p:sp>
        <p:nvSpPr>
          <p:cNvPr id="6" name="Shape 4"/>
          <p:cNvSpPr/>
          <p:nvPr/>
        </p:nvSpPr>
        <p:spPr>
          <a:xfrm>
            <a:off x="640080" y="1920240"/>
            <a:ext cx="2194560" cy="18288"/>
          </a:xfrm>
          <a:prstGeom prst="rect">
            <a:avLst/>
          </a:prstGeom>
          <a:solidFill>
            <a:srgbClr val="E94560"/>
          </a:solidFill>
          <a:ln/>
        </p:spPr>
      </p:sp>
      <p:sp>
        <p:nvSpPr>
          <p:cNvPr id="7" name="Text 5"/>
          <p:cNvSpPr/>
          <p:nvPr/>
        </p:nvSpPr>
        <p:spPr>
          <a:xfrm>
            <a:off x="50292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Monthly CREB market reports</a:t>
            </a:r>
            <a:endParaRPr lang="en-US" sz="1100" dirty="0"/>
          </a:p>
        </p:txBody>
      </p:sp>
      <p:sp>
        <p:nvSpPr>
          <p:cNvPr id="8" name="Text 6"/>
          <p:cNvSpPr/>
          <p:nvPr/>
        </p:nvSpPr>
        <p:spPr>
          <a:xfrm>
            <a:off x="50292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Scale to 200+ indexed pages</a:t>
            </a:r>
            <a:endParaRPr lang="en-US" sz="1100" dirty="0"/>
          </a:p>
        </p:txBody>
      </p:sp>
      <p:sp>
        <p:nvSpPr>
          <p:cNvPr id="9" name="Text 7"/>
          <p:cNvSpPr/>
          <p:nvPr/>
        </p:nvSpPr>
        <p:spPr>
          <a:xfrm>
            <a:off x="50292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Lifestyle &amp; 'Best of Calgary' guides</a:t>
            </a:r>
            <a:endParaRPr lang="en-US" sz="1100" dirty="0"/>
          </a:p>
        </p:txBody>
      </p:sp>
      <p:sp>
        <p:nvSpPr>
          <p:cNvPr id="10" name="Text 8"/>
          <p:cNvSpPr/>
          <p:nvPr/>
        </p:nvSpPr>
        <p:spPr>
          <a:xfrm>
            <a:off x="50292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Calgary vs. other cities comparisons</a:t>
            </a:r>
            <a:endParaRPr lang="en-US" sz="1100" dirty="0"/>
          </a:p>
        </p:txBody>
      </p:sp>
      <p:sp>
        <p:nvSpPr>
          <p:cNvPr id="11" name="Text 9"/>
          <p:cNvSpPr/>
          <p:nvPr/>
        </p:nvSpPr>
        <p:spPr>
          <a:xfrm>
            <a:off x="50292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Seasonal buying/selling content</a:t>
            </a:r>
            <a:endParaRPr lang="en-US" sz="1100" dirty="0"/>
          </a:p>
        </p:txBody>
      </p:sp>
      <p:sp>
        <p:nvSpPr>
          <p:cNvPr id="12" name="Text 10"/>
          <p:cNvSpPr/>
          <p:nvPr/>
        </p:nvSpPr>
        <p:spPr>
          <a:xfrm>
            <a:off x="502920" y="50749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Pre-construction &amp; new development coverage</a:t>
            </a:r>
            <a:endParaRPr lang="en-US" sz="1100" dirty="0"/>
          </a:p>
        </p:txBody>
      </p:sp>
      <p:sp>
        <p:nvSpPr>
          <p:cNvPr id="13" name="Shape 11"/>
          <p:cNvSpPr/>
          <p:nvPr/>
        </p:nvSpPr>
        <p:spPr>
          <a:xfrm>
            <a:off x="3246120" y="1280160"/>
            <a:ext cx="2743200" cy="4937760"/>
          </a:xfrm>
          <a:prstGeom prst="rect">
            <a:avLst>
              <a:gd name="adj" fmla="val 3333"/>
            </a:avLst>
          </a:prstGeom>
          <a:solidFill>
            <a:srgbClr val="F5F5F5"/>
          </a:solidFill>
          <a:ln/>
        </p:spPr>
      </p:sp>
      <p:sp>
        <p:nvSpPr>
          <p:cNvPr id="14" name="Text 12"/>
          <p:cNvSpPr/>
          <p:nvPr/>
        </p:nvSpPr>
        <p:spPr>
          <a:xfrm>
            <a:off x="324612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Video &amp; Media</a:t>
            </a:r>
            <a:endParaRPr lang="en-US" sz="1500" dirty="0"/>
          </a:p>
        </p:txBody>
      </p:sp>
      <p:sp>
        <p:nvSpPr>
          <p:cNvPr id="15" name="Shape 13"/>
          <p:cNvSpPr/>
          <p:nvPr/>
        </p:nvSpPr>
        <p:spPr>
          <a:xfrm>
            <a:off x="3520440" y="1920240"/>
            <a:ext cx="2194560" cy="18288"/>
          </a:xfrm>
          <a:prstGeom prst="rect">
            <a:avLst/>
          </a:prstGeom>
          <a:solidFill>
            <a:srgbClr val="E94560"/>
          </a:solidFill>
          <a:ln/>
        </p:spPr>
      </p:sp>
      <p:sp>
        <p:nvSpPr>
          <p:cNvPr id="16" name="Text 14"/>
          <p:cNvSpPr/>
          <p:nvPr/>
        </p:nvSpPr>
        <p:spPr>
          <a:xfrm>
            <a:off x="338328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Monthly market update videos</a:t>
            </a:r>
            <a:endParaRPr lang="en-US" sz="1100" dirty="0"/>
          </a:p>
        </p:txBody>
      </p:sp>
      <p:sp>
        <p:nvSpPr>
          <p:cNvPr id="17" name="Text 15"/>
          <p:cNvSpPr/>
          <p:nvPr/>
        </p:nvSpPr>
        <p:spPr>
          <a:xfrm>
            <a:off x="338328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Neighborhood tour video series</a:t>
            </a:r>
            <a:endParaRPr lang="en-US" sz="1100" dirty="0"/>
          </a:p>
        </p:txBody>
      </p:sp>
      <p:sp>
        <p:nvSpPr>
          <p:cNvPr id="18" name="Text 16"/>
          <p:cNvSpPr/>
          <p:nvPr/>
        </p:nvSpPr>
        <p:spPr>
          <a:xfrm>
            <a:off x="338328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Neil Rowlandson introduction video</a:t>
            </a:r>
            <a:endParaRPr lang="en-US" sz="1100" dirty="0"/>
          </a:p>
        </p:txBody>
      </p:sp>
      <p:sp>
        <p:nvSpPr>
          <p:cNvPr id="19" name="Text 17"/>
          <p:cNvSpPr/>
          <p:nvPr/>
        </p:nvSpPr>
        <p:spPr>
          <a:xfrm>
            <a:off x="338328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Client testimonial videos</a:t>
            </a:r>
            <a:endParaRPr lang="en-US" sz="1100" dirty="0"/>
          </a:p>
        </p:txBody>
      </p:sp>
      <p:sp>
        <p:nvSpPr>
          <p:cNvPr id="20" name="Text 18"/>
          <p:cNvSpPr/>
          <p:nvPr/>
        </p:nvSpPr>
        <p:spPr>
          <a:xfrm>
            <a:off x="338328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Local media features &amp; press mentions</a:t>
            </a:r>
            <a:endParaRPr lang="en-US" sz="1100" dirty="0"/>
          </a:p>
        </p:txBody>
      </p:sp>
      <p:sp>
        <p:nvSpPr>
          <p:cNvPr id="21" name="Text 19"/>
          <p:cNvSpPr/>
          <p:nvPr/>
        </p:nvSpPr>
        <p:spPr>
          <a:xfrm>
            <a:off x="3383280" y="50749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'As Featured In' trust section</a:t>
            </a:r>
            <a:endParaRPr lang="en-US" sz="1100" dirty="0"/>
          </a:p>
        </p:txBody>
      </p:sp>
      <p:sp>
        <p:nvSpPr>
          <p:cNvPr id="22" name="Shape 20"/>
          <p:cNvSpPr/>
          <p:nvPr/>
        </p:nvSpPr>
        <p:spPr>
          <a:xfrm>
            <a:off x="6126480" y="1280160"/>
            <a:ext cx="2743200" cy="4937760"/>
          </a:xfrm>
          <a:prstGeom prst="rect">
            <a:avLst>
              <a:gd name="adj" fmla="val 3333"/>
            </a:avLst>
          </a:prstGeom>
          <a:solidFill>
            <a:srgbClr val="F5F5F5"/>
          </a:solidFill>
          <a:ln/>
        </p:spPr>
      </p:sp>
      <p:sp>
        <p:nvSpPr>
          <p:cNvPr id="23" name="Text 21"/>
          <p:cNvSpPr/>
          <p:nvPr/>
        </p:nvSpPr>
        <p:spPr>
          <a:xfrm>
            <a:off x="612648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Lead Generation</a:t>
            </a:r>
            <a:endParaRPr lang="en-US" sz="1500" dirty="0"/>
          </a:p>
        </p:txBody>
      </p:sp>
      <p:sp>
        <p:nvSpPr>
          <p:cNvPr id="24" name="Shape 22"/>
          <p:cNvSpPr/>
          <p:nvPr/>
        </p:nvSpPr>
        <p:spPr>
          <a:xfrm>
            <a:off x="6400800" y="1920240"/>
            <a:ext cx="2194560" cy="18288"/>
          </a:xfrm>
          <a:prstGeom prst="rect">
            <a:avLst/>
          </a:prstGeom>
          <a:solidFill>
            <a:srgbClr val="E94560"/>
          </a:solidFill>
          <a:ln/>
        </p:spPr>
      </p:sp>
      <p:sp>
        <p:nvSpPr>
          <p:cNvPr id="25" name="Text 23"/>
          <p:cNvSpPr/>
          <p:nvPr/>
        </p:nvSpPr>
        <p:spPr>
          <a:xfrm>
            <a:off x="626364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Email newsletter (monthly market + listings)</a:t>
            </a:r>
            <a:endParaRPr lang="en-US" sz="1100" dirty="0"/>
          </a:p>
        </p:txBody>
      </p:sp>
      <p:sp>
        <p:nvSpPr>
          <p:cNvPr id="26" name="Text 24"/>
          <p:cNvSpPr/>
          <p:nvPr/>
        </p:nvSpPr>
        <p:spPr>
          <a:xfrm>
            <a:off x="626364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Home valuation lead magnet</a:t>
            </a:r>
            <a:endParaRPr lang="en-US" sz="1100" dirty="0"/>
          </a:p>
        </p:txBody>
      </p:sp>
      <p:sp>
        <p:nvSpPr>
          <p:cNvPr id="27" name="Text 25"/>
          <p:cNvSpPr/>
          <p:nvPr/>
        </p:nvSpPr>
        <p:spPr>
          <a:xfrm>
            <a:off x="626364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Buyer &amp; seller guide PDF downloads</a:t>
            </a:r>
            <a:endParaRPr lang="en-US" sz="1100" dirty="0"/>
          </a:p>
        </p:txBody>
      </p:sp>
      <p:sp>
        <p:nvSpPr>
          <p:cNvPr id="28" name="Text 26"/>
          <p:cNvSpPr/>
          <p:nvPr/>
        </p:nvSpPr>
        <p:spPr>
          <a:xfrm>
            <a:off x="626364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Forced IDX registration (like competitors)</a:t>
            </a:r>
            <a:endParaRPr lang="en-US" sz="1100" dirty="0"/>
          </a:p>
        </p:txBody>
      </p:sp>
      <p:sp>
        <p:nvSpPr>
          <p:cNvPr id="29" name="Text 27"/>
          <p:cNvSpPr/>
          <p:nvPr/>
        </p:nvSpPr>
        <p:spPr>
          <a:xfrm>
            <a:off x="626364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Chat widget for instant engagement</a:t>
            </a:r>
            <a:endParaRPr lang="en-US" sz="1100" dirty="0"/>
          </a:p>
        </p:txBody>
      </p:sp>
      <p:sp>
        <p:nvSpPr>
          <p:cNvPr id="30" name="Text 28"/>
          <p:cNvSpPr/>
          <p:nvPr/>
        </p:nvSpPr>
        <p:spPr>
          <a:xfrm>
            <a:off x="6263640" y="50749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Property alert notifications via RealScout-style tool</a:t>
            </a:r>
            <a:endParaRPr lang="en-US" sz="1100" dirty="0"/>
          </a:p>
        </p:txBody>
      </p:sp>
      <p:sp>
        <p:nvSpPr>
          <p:cNvPr id="31" name="Shape 29"/>
          <p:cNvSpPr/>
          <p:nvPr/>
        </p:nvSpPr>
        <p:spPr>
          <a:xfrm>
            <a:off x="9006840" y="1280160"/>
            <a:ext cx="2743200" cy="4937760"/>
          </a:xfrm>
          <a:prstGeom prst="rect">
            <a:avLst>
              <a:gd name="adj" fmla="val 3333"/>
            </a:avLst>
          </a:prstGeom>
          <a:solidFill>
            <a:srgbClr val="F5F5F5"/>
          </a:solidFill>
          <a:ln/>
        </p:spPr>
      </p:sp>
      <p:sp>
        <p:nvSpPr>
          <p:cNvPr id="32" name="Text 30"/>
          <p:cNvSpPr/>
          <p:nvPr/>
        </p:nvSpPr>
        <p:spPr>
          <a:xfrm>
            <a:off x="900684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Local SEO</a:t>
            </a:r>
            <a:endParaRPr lang="en-US" sz="1500" dirty="0"/>
          </a:p>
        </p:txBody>
      </p:sp>
      <p:sp>
        <p:nvSpPr>
          <p:cNvPr id="33" name="Shape 31"/>
          <p:cNvSpPr/>
          <p:nvPr/>
        </p:nvSpPr>
        <p:spPr>
          <a:xfrm>
            <a:off x="9281160" y="1920240"/>
            <a:ext cx="2194560" cy="18288"/>
          </a:xfrm>
          <a:prstGeom prst="rect">
            <a:avLst/>
          </a:prstGeom>
          <a:solidFill>
            <a:srgbClr val="E94560"/>
          </a:solidFill>
          <a:ln/>
        </p:spPr>
      </p:sp>
      <p:sp>
        <p:nvSpPr>
          <p:cNvPr id="34" name="Text 32"/>
          <p:cNvSpPr/>
          <p:nvPr/>
        </p:nvSpPr>
        <p:spPr>
          <a:xfrm>
            <a:off x="914400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Google Business Profile optimization</a:t>
            </a:r>
            <a:endParaRPr lang="en-US" sz="1100" dirty="0"/>
          </a:p>
        </p:txBody>
      </p:sp>
      <p:sp>
        <p:nvSpPr>
          <p:cNvPr id="35" name="Text 33"/>
          <p:cNvSpPr/>
          <p:nvPr/>
        </p:nvSpPr>
        <p:spPr>
          <a:xfrm>
            <a:off x="914400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50+ directory profiles with NAP consistency</a:t>
            </a:r>
            <a:endParaRPr lang="en-US" sz="1100" dirty="0"/>
          </a:p>
        </p:txBody>
      </p:sp>
      <p:sp>
        <p:nvSpPr>
          <p:cNvPr id="36" name="Text 34"/>
          <p:cNvSpPr/>
          <p:nvPr/>
        </p:nvSpPr>
        <p:spPr>
          <a:xfrm>
            <a:off x="914400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CIR Realty internal citation leverage</a:t>
            </a:r>
            <a:endParaRPr lang="en-US" sz="1100" dirty="0"/>
          </a:p>
        </p:txBody>
      </p:sp>
      <p:sp>
        <p:nvSpPr>
          <p:cNvPr id="37" name="Text 35"/>
          <p:cNvSpPr/>
          <p:nvPr/>
        </p:nvSpPr>
        <p:spPr>
          <a:xfrm>
            <a:off x="914400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Calgary Herald / Avenue Magazine features</a:t>
            </a:r>
            <a:endParaRPr lang="en-US" sz="1100" dirty="0"/>
          </a:p>
        </p:txBody>
      </p:sp>
      <p:sp>
        <p:nvSpPr>
          <p:cNvPr id="38" name="Text 36"/>
          <p:cNvSpPr/>
          <p:nvPr/>
        </p:nvSpPr>
        <p:spPr>
          <a:xfrm>
            <a:off x="914400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Community association partnerships</a:t>
            </a:r>
            <a:endParaRPr lang="en-US" sz="1100" dirty="0"/>
          </a:p>
        </p:txBody>
      </p:sp>
      <p:sp>
        <p:nvSpPr>
          <p:cNvPr id="39" name="Text 37"/>
          <p:cNvSpPr/>
          <p:nvPr/>
        </p:nvSpPr>
        <p:spPr>
          <a:xfrm>
            <a:off x="9144000" y="50749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Semi-annual comprehensive SEO audit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Opportunity</a:t>
            </a:r>
            <a:endParaRPr lang="en-US" sz="2800" dirty="0"/>
          </a:p>
        </p:txBody>
      </p:sp>
      <p:sp>
        <p:nvSpPr>
          <p:cNvPr id="4" name="Text 2"/>
          <p:cNvSpPr/>
          <p:nvPr/>
        </p:nvSpPr>
        <p:spPr>
          <a:xfrm>
            <a:off x="457200" y="1280160"/>
            <a:ext cx="5486400" cy="457200"/>
          </a:xfrm>
          <a:prstGeom prst="rect">
            <a:avLst/>
          </a:prstGeom>
          <a:noFill/>
          <a:ln/>
        </p:spPr>
        <p:txBody>
          <a:bodyPr wrap="square" rtlCol="0" anchor="ctr"/>
          <a:lstStyle/>
          <a:p>
            <a:pPr indent="0" marL="0">
              <a:buNone/>
            </a:pPr>
            <a:r>
              <a:rPr lang="en-US" sz="2000" b="1" dirty="0">
                <a:solidFill>
                  <a:srgbClr val="1A1A2E"/>
                </a:solidFill>
                <a:latin typeface="Arial" pitchFamily="34" charset="0"/>
                <a:ea typeface="Arial" pitchFamily="34" charset="-122"/>
                <a:cs typeface="Arial" pitchFamily="34" charset="-120"/>
              </a:rPr>
              <a:t>Your Competitive Advantages</a:t>
            </a:r>
            <a:endParaRPr lang="en-US" sz="2000" dirty="0"/>
          </a:p>
        </p:txBody>
      </p:sp>
      <p:sp>
        <p:nvSpPr>
          <p:cNvPr id="5" name="Shape 3"/>
          <p:cNvSpPr/>
          <p:nvPr/>
        </p:nvSpPr>
        <p:spPr>
          <a:xfrm>
            <a:off x="457200" y="1965960"/>
            <a:ext cx="274320" cy="274320"/>
          </a:xfrm>
          <a:prstGeom prst="rect">
            <a:avLst>
              <a:gd name="adj" fmla="val 50000"/>
            </a:avLst>
          </a:prstGeom>
          <a:solidFill>
            <a:srgbClr val="27AE60"/>
          </a:solidFill>
          <a:ln/>
        </p:spPr>
      </p:sp>
      <p:sp>
        <p:nvSpPr>
          <p:cNvPr id="6" name="Text 4"/>
          <p:cNvSpPr/>
          <p:nvPr/>
        </p:nvSpPr>
        <p:spPr>
          <a:xfrm>
            <a:off x="1005840" y="192024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20 Years of Calgary Real Estate Experience</a:t>
            </a:r>
            <a:endParaRPr lang="en-US" sz="1500" dirty="0"/>
          </a:p>
        </p:txBody>
      </p:sp>
      <p:sp>
        <p:nvSpPr>
          <p:cNvPr id="7" name="Text 5"/>
          <p:cNvSpPr/>
          <p:nvPr/>
        </p:nvSpPr>
        <p:spPr>
          <a:xfrm>
            <a:off x="4754880" y="192024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Two decades of transactions across every market cycle — from the 2008 downturn to the 2026 boom. Deep knowledge of pricing, neighborhoods, and negotiation that newer agents can't match.</a:t>
            </a:r>
            <a:endParaRPr lang="en-US" sz="1300" dirty="0"/>
          </a:p>
        </p:txBody>
      </p:sp>
      <p:sp>
        <p:nvSpPr>
          <p:cNvPr id="8" name="Shape 6"/>
          <p:cNvSpPr/>
          <p:nvPr/>
        </p:nvSpPr>
        <p:spPr>
          <a:xfrm>
            <a:off x="457200" y="2743200"/>
            <a:ext cx="274320" cy="274320"/>
          </a:xfrm>
          <a:prstGeom prst="rect">
            <a:avLst>
              <a:gd name="adj" fmla="val 50000"/>
            </a:avLst>
          </a:prstGeom>
          <a:solidFill>
            <a:srgbClr val="27AE60"/>
          </a:solidFill>
          <a:ln/>
        </p:spPr>
      </p:sp>
      <p:sp>
        <p:nvSpPr>
          <p:cNvPr id="9" name="Text 7"/>
          <p:cNvSpPr/>
          <p:nvPr/>
        </p:nvSpPr>
        <p:spPr>
          <a:xfrm>
            <a:off x="1005840" y="269748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10-Year Banking Background</a:t>
            </a:r>
            <a:endParaRPr lang="en-US" sz="1500" dirty="0"/>
          </a:p>
        </p:txBody>
      </p:sp>
      <p:sp>
        <p:nvSpPr>
          <p:cNvPr id="10" name="Text 8"/>
          <p:cNvSpPr/>
          <p:nvPr/>
        </p:nvSpPr>
        <p:spPr>
          <a:xfrm>
            <a:off x="4754880" y="269748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Unique financial expertise that no competitor fully leverages. Can advise on mortgage structures, investment ROI, and financial planning in ways that position Neil as a trusted advisor, not just a salesperson.</a:t>
            </a:r>
            <a:endParaRPr lang="en-US" sz="1300" dirty="0"/>
          </a:p>
        </p:txBody>
      </p:sp>
      <p:sp>
        <p:nvSpPr>
          <p:cNvPr id="11" name="Shape 9"/>
          <p:cNvSpPr/>
          <p:nvPr/>
        </p:nvSpPr>
        <p:spPr>
          <a:xfrm>
            <a:off x="457200" y="3520440"/>
            <a:ext cx="274320" cy="274320"/>
          </a:xfrm>
          <a:prstGeom prst="rect">
            <a:avLst>
              <a:gd name="adj" fmla="val 50000"/>
            </a:avLst>
          </a:prstGeom>
          <a:solidFill>
            <a:srgbClr val="27AE60"/>
          </a:solidFill>
          <a:ln/>
        </p:spPr>
      </p:sp>
      <p:sp>
        <p:nvSpPr>
          <p:cNvPr id="12" name="Text 10"/>
          <p:cNvSpPr/>
          <p:nvPr/>
        </p:nvSpPr>
        <p:spPr>
          <a:xfrm>
            <a:off x="1005840" y="347472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CIR Realty Backing (970+ Agents)</a:t>
            </a:r>
            <a:endParaRPr lang="en-US" sz="1500" dirty="0"/>
          </a:p>
        </p:txBody>
      </p:sp>
      <p:sp>
        <p:nvSpPr>
          <p:cNvPr id="13" name="Text 11"/>
          <p:cNvSpPr/>
          <p:nvPr/>
        </p:nvSpPr>
        <p:spPr>
          <a:xfrm>
            <a:off x="4754880" y="347472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Alberta's largest independent brokerage provides brand authority, MLS access, marketing resources, and a referral network that rivals national franchises like RE/MAX and Royal LePage.</a:t>
            </a:r>
            <a:endParaRPr lang="en-US" sz="1300" dirty="0"/>
          </a:p>
        </p:txBody>
      </p:sp>
      <p:sp>
        <p:nvSpPr>
          <p:cNvPr id="14" name="Shape 12"/>
          <p:cNvSpPr/>
          <p:nvPr/>
        </p:nvSpPr>
        <p:spPr>
          <a:xfrm>
            <a:off x="457200" y="4297680"/>
            <a:ext cx="274320" cy="274320"/>
          </a:xfrm>
          <a:prstGeom prst="rect">
            <a:avLst>
              <a:gd name="adj" fmla="val 50000"/>
            </a:avLst>
          </a:prstGeom>
          <a:solidFill>
            <a:srgbClr val="27AE60"/>
          </a:solidFill>
          <a:ln/>
        </p:spPr>
      </p:sp>
      <p:sp>
        <p:nvSpPr>
          <p:cNvPr id="15" name="Text 13"/>
          <p:cNvSpPr/>
          <p:nvPr/>
        </p:nvSpPr>
        <p:spPr>
          <a:xfrm>
            <a:off x="1005840" y="425196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Born &amp; Raised in Lakeview, Calgary</a:t>
            </a:r>
            <a:endParaRPr lang="en-US" sz="1500" dirty="0"/>
          </a:p>
        </p:txBody>
      </p:sp>
      <p:sp>
        <p:nvSpPr>
          <p:cNvPr id="16" name="Text 14"/>
          <p:cNvSpPr/>
          <p:nvPr/>
        </p:nvSpPr>
        <p:spPr>
          <a:xfrm>
            <a:off x="4754880" y="425196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Authentic local roots that out-of-town competitors can't replicate. First-hand knowledge of neighborhoods, schools, parks, and community culture is Google's definition of 'Experience' in E-E-A-T.</a:t>
            </a:r>
            <a:endParaRPr lang="en-US" sz="1300" dirty="0"/>
          </a:p>
        </p:txBody>
      </p:sp>
      <p:sp>
        <p:nvSpPr>
          <p:cNvPr id="17" name="Shape 15"/>
          <p:cNvSpPr/>
          <p:nvPr/>
        </p:nvSpPr>
        <p:spPr>
          <a:xfrm>
            <a:off x="457200" y="5074920"/>
            <a:ext cx="274320" cy="274320"/>
          </a:xfrm>
          <a:prstGeom prst="rect">
            <a:avLst>
              <a:gd name="adj" fmla="val 50000"/>
            </a:avLst>
          </a:prstGeom>
          <a:solidFill>
            <a:srgbClr val="27AE60"/>
          </a:solidFill>
          <a:ln/>
        </p:spPr>
      </p:sp>
      <p:sp>
        <p:nvSpPr>
          <p:cNvPr id="18" name="Text 16"/>
          <p:cNvSpPr/>
          <p:nvPr/>
        </p:nvSpPr>
        <p:spPr>
          <a:xfrm>
            <a:off x="1005840" y="502920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First-Mover Opportunity on Content</a:t>
            </a:r>
            <a:endParaRPr lang="en-US" sz="1500" dirty="0"/>
          </a:p>
        </p:txBody>
      </p:sp>
      <p:sp>
        <p:nvSpPr>
          <p:cNvPr id="19" name="Text 17"/>
          <p:cNvSpPr/>
          <p:nvPr/>
        </p:nvSpPr>
        <p:spPr>
          <a:xfrm>
            <a:off x="4754880" y="502920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Most competitors (except Justin Havre) have weak or no blog strategy. Neil can establish authority in underserved content areas like investment analysis, market reports, and relocation guides before others catch up.</a:t>
            </a:r>
            <a:endParaRPr lang="en-US" sz="1300" dirty="0"/>
          </a:p>
        </p:txBody>
      </p:sp>
      <p:sp>
        <p:nvSpPr>
          <p:cNvPr id="20" name="Shape 18"/>
          <p:cNvSpPr/>
          <p:nvPr/>
        </p:nvSpPr>
        <p:spPr>
          <a:xfrm>
            <a:off x="457200" y="5852160"/>
            <a:ext cx="10972800" cy="731520"/>
          </a:xfrm>
          <a:prstGeom prst="rect">
            <a:avLst>
              <a:gd name="adj" fmla="val 6250"/>
            </a:avLst>
          </a:prstGeom>
          <a:solidFill>
            <a:srgbClr val="1A1A2E"/>
          </a:solidFill>
          <a:ln/>
        </p:spPr>
      </p:sp>
      <p:sp>
        <p:nvSpPr>
          <p:cNvPr id="21" name="Text 19"/>
          <p:cNvSpPr/>
          <p:nvPr/>
        </p:nvSpPr>
        <p:spPr>
          <a:xfrm>
            <a:off x="640080" y="5943600"/>
            <a:ext cx="10515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The site is not broken — it just needs content. With consistent investment, we can close the gap with competitors in 3-6 months.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1A2E"/>
          </a:solidFill>
          <a:ln/>
        </p:spPr>
      </p:sp>
      <p:sp>
        <p:nvSpPr>
          <p:cNvPr id="3" name="Shape 1"/>
          <p:cNvSpPr/>
          <p:nvPr/>
        </p:nvSpPr>
        <p:spPr>
          <a:xfrm>
            <a:off x="0" y="1645920"/>
            <a:ext cx="12192000" cy="36576"/>
          </a:xfrm>
          <a:prstGeom prst="rect">
            <a:avLst/>
          </a:prstGeom>
          <a:solidFill>
            <a:srgbClr val="E94560"/>
          </a:solidFill>
          <a:ln/>
        </p:spPr>
      </p:sp>
      <p:sp>
        <p:nvSpPr>
          <p:cNvPr id="4" name="Text 2"/>
          <p:cNvSpPr/>
          <p:nvPr/>
        </p:nvSpPr>
        <p:spPr>
          <a:xfrm>
            <a:off x="731520" y="457200"/>
            <a:ext cx="1005840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Next Steps</a:t>
            </a:r>
            <a:endParaRPr lang="en-US" sz="3600" dirty="0"/>
          </a:p>
        </p:txBody>
      </p:sp>
      <p:sp>
        <p:nvSpPr>
          <p:cNvPr id="5" name="Shape 3"/>
          <p:cNvSpPr/>
          <p:nvPr/>
        </p:nvSpPr>
        <p:spPr>
          <a:xfrm>
            <a:off x="731520" y="2057400"/>
            <a:ext cx="502920" cy="502920"/>
          </a:xfrm>
          <a:prstGeom prst="rect">
            <a:avLst>
              <a:gd name="adj" fmla="val 9091"/>
            </a:avLst>
          </a:prstGeom>
          <a:solidFill>
            <a:srgbClr val="E94560"/>
          </a:solidFill>
          <a:ln/>
        </p:spPr>
      </p:sp>
      <p:sp>
        <p:nvSpPr>
          <p:cNvPr id="6" name="Text 4"/>
          <p:cNvSpPr/>
          <p:nvPr/>
        </p:nvSpPr>
        <p:spPr>
          <a:xfrm>
            <a:off x="731520" y="20574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463040" y="20116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Deploy technical quick wins (schema, meta tags, HSTS, broken page fix)</a:t>
            </a:r>
            <a:endParaRPr lang="en-US" sz="1600" dirty="0"/>
          </a:p>
        </p:txBody>
      </p:sp>
      <p:sp>
        <p:nvSpPr>
          <p:cNvPr id="8" name="Text 6"/>
          <p:cNvSpPr/>
          <p:nvPr/>
        </p:nvSpPr>
        <p:spPr>
          <a:xfrm>
            <a:off x="1463040" y="24231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All low-effort fixes — can be completed in 1-2 business days by a developer</a:t>
            </a:r>
            <a:endParaRPr lang="en-US" sz="1200" dirty="0"/>
          </a:p>
        </p:txBody>
      </p:sp>
      <p:sp>
        <p:nvSpPr>
          <p:cNvPr id="9" name="Shape 7"/>
          <p:cNvSpPr/>
          <p:nvPr/>
        </p:nvSpPr>
        <p:spPr>
          <a:xfrm>
            <a:off x="731520" y="2971800"/>
            <a:ext cx="502920" cy="502920"/>
          </a:xfrm>
          <a:prstGeom prst="rect">
            <a:avLst>
              <a:gd name="adj" fmla="val 9091"/>
            </a:avLst>
          </a:prstGeom>
          <a:solidFill>
            <a:srgbClr val="E94560"/>
          </a:solidFill>
          <a:ln/>
        </p:spPr>
      </p:sp>
      <p:sp>
        <p:nvSpPr>
          <p:cNvPr id="10" name="Text 8"/>
          <p:cNvSpPr/>
          <p:nvPr/>
        </p:nvSpPr>
        <p:spPr>
          <a:xfrm>
            <a:off x="731520" y="29718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1463040" y="29260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Implement ready-to-use deliverables (rewritten titles, descriptions, OG tags)</a:t>
            </a:r>
            <a:endParaRPr lang="en-US" sz="1600" dirty="0"/>
          </a:p>
        </p:txBody>
      </p:sp>
      <p:sp>
        <p:nvSpPr>
          <p:cNvPr id="12" name="Text 10"/>
          <p:cNvSpPr/>
          <p:nvPr/>
        </p:nvSpPr>
        <p:spPr>
          <a:xfrm>
            <a:off x="1463040" y="33375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Copy-paste into CMS; immediate SERP improvement for existing pages</a:t>
            </a:r>
            <a:endParaRPr lang="en-US" sz="1200" dirty="0"/>
          </a:p>
        </p:txBody>
      </p:sp>
      <p:sp>
        <p:nvSpPr>
          <p:cNvPr id="13" name="Shape 11"/>
          <p:cNvSpPr/>
          <p:nvPr/>
        </p:nvSpPr>
        <p:spPr>
          <a:xfrm>
            <a:off x="731520" y="3886200"/>
            <a:ext cx="502920" cy="502920"/>
          </a:xfrm>
          <a:prstGeom prst="rect">
            <a:avLst>
              <a:gd name="adj" fmla="val 9091"/>
            </a:avLst>
          </a:prstGeom>
          <a:solidFill>
            <a:srgbClr val="E94560"/>
          </a:solidFill>
          <a:ln/>
        </p:spPr>
      </p:sp>
      <p:sp>
        <p:nvSpPr>
          <p:cNvPr id="14" name="Text 12"/>
          <p:cNvSpPr/>
          <p:nvPr/>
        </p:nvSpPr>
        <p:spPr>
          <a:xfrm>
            <a:off x="731520" y="38862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1463040" y="38404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Publish first Calgary Market Report (Q1 2026)</a:t>
            </a:r>
            <a:endParaRPr lang="en-US" sz="1600" dirty="0"/>
          </a:p>
        </p:txBody>
      </p:sp>
      <p:sp>
        <p:nvSpPr>
          <p:cNvPr id="16" name="Text 14"/>
          <p:cNvSpPr/>
          <p:nvPr/>
        </p:nvSpPr>
        <p:spPr>
          <a:xfrm>
            <a:off x="1463040" y="42519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Use CREB data ($641K avg, $572.5K median, 5,500+ listings) — first-mover advantage while competitors lag</a:t>
            </a:r>
            <a:endParaRPr lang="en-US" sz="1200" dirty="0"/>
          </a:p>
        </p:txBody>
      </p:sp>
      <p:sp>
        <p:nvSpPr>
          <p:cNvPr id="17" name="Shape 15"/>
          <p:cNvSpPr/>
          <p:nvPr/>
        </p:nvSpPr>
        <p:spPr>
          <a:xfrm>
            <a:off x="731520" y="4800600"/>
            <a:ext cx="502920" cy="502920"/>
          </a:xfrm>
          <a:prstGeom prst="rect">
            <a:avLst>
              <a:gd name="adj" fmla="val 9091"/>
            </a:avLst>
          </a:prstGeom>
          <a:solidFill>
            <a:srgbClr val="E94560"/>
          </a:solidFill>
          <a:ln/>
        </p:spPr>
      </p:sp>
      <p:sp>
        <p:nvSpPr>
          <p:cNvPr id="18" name="Text 16"/>
          <p:cNvSpPr/>
          <p:nvPr/>
        </p:nvSpPr>
        <p:spPr>
          <a:xfrm>
            <a:off x="731520" y="48006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1463040" y="47548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Begin weekly blog content calendar (Month 1 topics ready)</a:t>
            </a:r>
            <a:endParaRPr lang="en-US" sz="1600" dirty="0"/>
          </a:p>
        </p:txBody>
      </p:sp>
      <p:sp>
        <p:nvSpPr>
          <p:cNvPr id="20" name="Text 18"/>
          <p:cNvSpPr/>
          <p:nvPr/>
        </p:nvSpPr>
        <p:spPr>
          <a:xfrm>
            <a:off x="1463040" y="51663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4 posts targeting 'best neighborhoods Calgary,' 'Calgary investment property,' 'home prices 2026,' and market report</a:t>
            </a:r>
            <a:endParaRPr lang="en-US" sz="1200" dirty="0"/>
          </a:p>
        </p:txBody>
      </p:sp>
      <p:sp>
        <p:nvSpPr>
          <p:cNvPr id="21" name="Shape 19"/>
          <p:cNvSpPr/>
          <p:nvPr/>
        </p:nvSpPr>
        <p:spPr>
          <a:xfrm>
            <a:off x="731520" y="5715000"/>
            <a:ext cx="502920" cy="502920"/>
          </a:xfrm>
          <a:prstGeom prst="rect">
            <a:avLst>
              <a:gd name="adj" fmla="val 9091"/>
            </a:avLst>
          </a:prstGeom>
          <a:solidFill>
            <a:srgbClr val="E94560"/>
          </a:solidFill>
          <a:ln/>
        </p:spPr>
      </p:sp>
      <p:sp>
        <p:nvSpPr>
          <p:cNvPr id="22" name="Text 20"/>
          <p:cNvSpPr/>
          <p:nvPr/>
        </p:nvSpPr>
        <p:spPr>
          <a:xfrm>
            <a:off x="731520" y="57150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3" name="Text 21"/>
          <p:cNvSpPr/>
          <p:nvPr/>
        </p:nvSpPr>
        <p:spPr>
          <a:xfrm>
            <a:off x="1463040" y="56692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Launch Google Review acquisition campaign (target 50 reviews in 90 days)</a:t>
            </a:r>
            <a:endParaRPr lang="en-US" sz="1600" dirty="0"/>
          </a:p>
        </p:txBody>
      </p:sp>
      <p:sp>
        <p:nvSpPr>
          <p:cNvPr id="24" name="Text 22"/>
          <p:cNvSpPr/>
          <p:nvPr/>
        </p:nvSpPr>
        <p:spPr>
          <a:xfrm>
            <a:off x="1463040" y="60807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Even 50 reviews puts Neil ahead of 4 of 6 competitors digitally; use post-close email sequence</a:t>
            </a:r>
            <a:endParaRPr lang="en-US" sz="1200" dirty="0"/>
          </a:p>
        </p:txBody>
      </p:sp>
      <p:sp>
        <p:nvSpPr>
          <p:cNvPr id="25" name="Shape 23"/>
          <p:cNvSpPr/>
          <p:nvPr/>
        </p:nvSpPr>
        <p:spPr>
          <a:xfrm>
            <a:off x="731520" y="6629400"/>
            <a:ext cx="502920" cy="502920"/>
          </a:xfrm>
          <a:prstGeom prst="rect">
            <a:avLst>
              <a:gd name="adj" fmla="val 9091"/>
            </a:avLst>
          </a:prstGeom>
          <a:solidFill>
            <a:srgbClr val="E94560"/>
          </a:solidFill>
          <a:ln/>
        </p:spPr>
      </p:sp>
      <p:sp>
        <p:nvSpPr>
          <p:cNvPr id="26" name="Text 24"/>
          <p:cNvSpPr/>
          <p:nvPr/>
        </p:nvSpPr>
        <p:spPr>
          <a:xfrm>
            <a:off x="731520" y="66294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7" name="Text 25"/>
          <p:cNvSpPr/>
          <p:nvPr/>
        </p:nvSpPr>
        <p:spPr>
          <a:xfrm>
            <a:off x="1463040" y="65836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Schedule 30-day progress review and keyword re-check</a:t>
            </a:r>
            <a:endParaRPr lang="en-US" sz="1600" dirty="0"/>
          </a:p>
        </p:txBody>
      </p:sp>
      <p:sp>
        <p:nvSpPr>
          <p:cNvPr id="28" name="Text 26"/>
          <p:cNvSpPr/>
          <p:nvPr/>
        </p:nvSpPr>
        <p:spPr>
          <a:xfrm>
            <a:off x="1463040" y="69951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Measure ranking changes, traffic growth, and lead capture improvements; adjust strategy based on early data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SEO Audit: sellingcalgarycastles.com</dc:subject>
  <dc:creator>SEO Audit Team</dc:creator>
  <cp:lastModifiedBy>SEO Audit Team</cp:lastModifiedBy>
  <cp:revision>1</cp:revision>
  <dcterms:created xsi:type="dcterms:W3CDTF">2026-04-01T08:36:12Z</dcterms:created>
  <dcterms:modified xsi:type="dcterms:W3CDTF">2026-04-01T08:36:12Z</dcterms:modified>
</cp:coreProperties>
</file>